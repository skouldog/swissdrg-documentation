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1" r:id="rId2"/>
    <p:sldId id="257" r:id="rId3"/>
    <p:sldId id="263" r:id="rId4"/>
    <p:sldId id="262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23B7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69183" autoAdjust="0"/>
  </p:normalViewPr>
  <p:slideViewPr>
    <p:cSldViewPr snapToGrid="0">
      <p:cViewPr varScale="1">
        <p:scale>
          <a:sx n="61" d="100"/>
          <a:sy n="61" d="100"/>
        </p:scale>
        <p:origin x="123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de-DE" b="1" dirty="0"/>
              <a:t>Arbeitsaufwand</a:t>
            </a:r>
          </a:p>
          <a:p>
            <a:pPr algn="l"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 dirty="0"/>
          </a:p>
        </c:rich>
      </c:tx>
      <c:layout>
        <c:manualLayout>
          <c:xMode val="edge"/>
          <c:yMode val="edge"/>
          <c:x val="1.7008446279174912E-2"/>
          <c:y val="1.67669751320674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Admin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0"/>
                <c:pt idx="0">
                  <c:v>Person A</c:v>
                </c:pt>
                <c:pt idx="3">
                  <c:v>Person B</c:v>
                </c:pt>
                <c:pt idx="6">
                  <c:v>Person C</c:v>
                </c:pt>
                <c:pt idx="9">
                  <c:v>Person D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3">
                  <c:v>2</c:v>
                </c:pt>
                <c:pt idx="6">
                  <c:v>2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C7-421A-B1A6-6A19527D1F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    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0"/>
                <c:pt idx="0">
                  <c:v>Person A</c:v>
                </c:pt>
                <c:pt idx="3">
                  <c:v>Person B</c:v>
                </c:pt>
                <c:pt idx="6">
                  <c:v>Person C</c:v>
                </c:pt>
                <c:pt idx="9">
                  <c:v>Person D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0.05</c:v>
                </c:pt>
                <c:pt idx="3">
                  <c:v>0.05</c:v>
                </c:pt>
                <c:pt idx="6">
                  <c:v>0.05</c:v>
                </c:pt>
                <c:pt idx="9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C7-421A-B1A6-6A19527D1F4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Einarrbeiten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0"/>
                <c:pt idx="0">
                  <c:v>Person A</c:v>
                </c:pt>
                <c:pt idx="3">
                  <c:v>Person B</c:v>
                </c:pt>
                <c:pt idx="6">
                  <c:v>Person C</c:v>
                </c:pt>
                <c:pt idx="9">
                  <c:v>Person D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</c:v>
                </c:pt>
                <c:pt idx="3">
                  <c:v>3</c:v>
                </c:pt>
                <c:pt idx="6">
                  <c:v>4</c:v>
                </c:pt>
                <c:pt idx="9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C7-421A-B1A6-6A19527D1F4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  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0"/>
                <c:pt idx="0">
                  <c:v>Person A</c:v>
                </c:pt>
                <c:pt idx="3">
                  <c:v>Person B</c:v>
                </c:pt>
                <c:pt idx="6">
                  <c:v>Person C</c:v>
                </c:pt>
                <c:pt idx="9">
                  <c:v>Person D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0.05</c:v>
                </c:pt>
                <c:pt idx="3">
                  <c:v>0.05</c:v>
                </c:pt>
                <c:pt idx="6">
                  <c:v>0.05</c:v>
                </c:pt>
                <c:pt idx="9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C7-421A-B1A6-6A19527D1F4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Coding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22225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6979314150192796E-3"/>
                  <c:y val="-0.14950563828045649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8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a:t>11h</a:t>
                    </a:r>
                    <a:endParaRPr lang="en-US" dirty="0">
                      <a:solidFill>
                        <a:schemeClr val="bg2">
                          <a:lumMod val="75000"/>
                        </a:schemeClr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500031665357589E-2"/>
                      <c:h val="6.1395073941920245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154D-4C90-8744-FABAD246ED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0"/>
                <c:pt idx="0">
                  <c:v>Person A</c:v>
                </c:pt>
                <c:pt idx="3">
                  <c:v>Person B</c:v>
                </c:pt>
                <c:pt idx="6">
                  <c:v>Person C</c:v>
                </c:pt>
                <c:pt idx="9">
                  <c:v>Person D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6</c:v>
                </c:pt>
                <c:pt idx="3">
                  <c:v>6</c:v>
                </c:pt>
                <c:pt idx="6">
                  <c:v>6</c:v>
                </c:pt>
                <c:pt idx="9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C7-421A-B1A6-6A19527D1F47}"/>
            </c:ext>
          </c:extLst>
        </c:ser>
        <c:ser>
          <c:idx val="6"/>
          <c:order val="5"/>
          <c:tx>
            <c:strRef>
              <c:f>Sheet1!$G$1</c:f>
              <c:strCache>
                <c:ptCount val="1"/>
                <c:pt idx="0">
                  <c:v>Admin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0"/>
                <c:pt idx="0">
                  <c:v>Person A</c:v>
                </c:pt>
                <c:pt idx="3">
                  <c:v>Person B</c:v>
                </c:pt>
                <c:pt idx="6">
                  <c:v>Person C</c:v>
                </c:pt>
                <c:pt idx="9">
                  <c:v>Person D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1">
                  <c:v>3.25</c:v>
                </c:pt>
                <c:pt idx="4">
                  <c:v>4</c:v>
                </c:pt>
                <c:pt idx="7">
                  <c:v>4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3C7-421A-B1A6-6A19527D1F47}"/>
            </c:ext>
          </c:extLst>
        </c:ser>
        <c:ser>
          <c:idx val="7"/>
          <c:order val="6"/>
          <c:tx>
            <c:strRef>
              <c:f>Sheet1!$H$1</c:f>
              <c:strCache>
                <c:ptCount val="1"/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0"/>
                <c:pt idx="0">
                  <c:v>Person A</c:v>
                </c:pt>
                <c:pt idx="3">
                  <c:v>Person B</c:v>
                </c:pt>
                <c:pt idx="6">
                  <c:v>Person C</c:v>
                </c:pt>
                <c:pt idx="9">
                  <c:v>Person D</c:v>
                </c:pt>
              </c:strCache>
            </c:strRef>
          </c:cat>
          <c:val>
            <c:numRef>
              <c:f>Sheet1!$H$2:$H$13</c:f>
              <c:numCache>
                <c:formatCode>General</c:formatCode>
                <c:ptCount val="12"/>
                <c:pt idx="1">
                  <c:v>0.05</c:v>
                </c:pt>
                <c:pt idx="4">
                  <c:v>0.05</c:v>
                </c:pt>
                <c:pt idx="7">
                  <c:v>0.05</c:v>
                </c:pt>
                <c:pt idx="10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3C7-421A-B1A6-6A19527D1F47}"/>
            </c:ext>
          </c:extLst>
        </c:ser>
        <c:ser>
          <c:idx val="8"/>
          <c:order val="7"/>
          <c:tx>
            <c:strRef>
              <c:f>Sheet1!$I$1</c:f>
              <c:strCache>
                <c:ptCount val="1"/>
                <c:pt idx="0">
                  <c:v>Einarbeitung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0"/>
                <c:pt idx="0">
                  <c:v>Person A</c:v>
                </c:pt>
                <c:pt idx="3">
                  <c:v>Person B</c:v>
                </c:pt>
                <c:pt idx="6">
                  <c:v>Person C</c:v>
                </c:pt>
                <c:pt idx="9">
                  <c:v>Person D</c:v>
                </c:pt>
              </c:strCache>
            </c:strRef>
          </c:cat>
          <c:val>
            <c:numRef>
              <c:f>Sheet1!$I$2:$I$13</c:f>
              <c:numCache>
                <c:formatCode>General</c:formatCode>
                <c:ptCount val="12"/>
                <c:pt idx="1">
                  <c:v>2</c:v>
                </c:pt>
                <c:pt idx="4">
                  <c:v>2</c:v>
                </c:pt>
                <c:pt idx="7">
                  <c:v>1</c:v>
                </c:pt>
                <c:pt idx="1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3C7-421A-B1A6-6A19527D1F47}"/>
            </c:ext>
          </c:extLst>
        </c:ser>
        <c:ser>
          <c:idx val="9"/>
          <c:order val="8"/>
          <c:tx>
            <c:strRef>
              <c:f>Sheet1!$J$1</c:f>
              <c:strCache>
                <c:ptCount val="1"/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0"/>
                <c:pt idx="0">
                  <c:v>Person A</c:v>
                </c:pt>
                <c:pt idx="3">
                  <c:v>Person B</c:v>
                </c:pt>
                <c:pt idx="6">
                  <c:v>Person C</c:v>
                </c:pt>
                <c:pt idx="9">
                  <c:v>Person D</c:v>
                </c:pt>
              </c:strCache>
            </c:strRef>
          </c:cat>
          <c:val>
            <c:numRef>
              <c:f>Sheet1!$J$2:$J$13</c:f>
              <c:numCache>
                <c:formatCode>General</c:formatCode>
                <c:ptCount val="12"/>
                <c:pt idx="1">
                  <c:v>0.05</c:v>
                </c:pt>
                <c:pt idx="4">
                  <c:v>0.05</c:v>
                </c:pt>
                <c:pt idx="7">
                  <c:v>0.05</c:v>
                </c:pt>
                <c:pt idx="10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3C7-421A-B1A6-6A19527D1F47}"/>
            </c:ext>
          </c:extLst>
        </c:ser>
        <c:ser>
          <c:idx val="10"/>
          <c:order val="9"/>
          <c:tx>
            <c:strRef>
              <c:f>Sheet1!$K$1</c:f>
              <c:strCache>
                <c:ptCount val="1"/>
                <c:pt idx="0">
                  <c:v>Coding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3.6979314150192796E-3"/>
                  <c:y val="-0.25569626074450652"/>
                </c:manualLayout>
              </c:layout>
              <c:tx>
                <c:rich>
                  <a:bodyPr rot="0" spcFirstLastPara="1" vertOverflow="ellipsis" vert="horz" wrap="square" lIns="0" tIns="0" rIns="0" bIns="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800" b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a:t>16h</a:t>
                    </a:r>
                    <a:endParaRPr lang="en-US" b="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500031665357589E-2"/>
                      <c:h val="6.1395073941920245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154D-4C90-8744-FABAD246EDB8}"/>
                </c:ext>
              </c:extLst>
            </c:dLbl>
            <c:dLbl>
              <c:idx val="4"/>
              <c:layout>
                <c:manualLayout>
                  <c:x val="7.3959356239640516E-3"/>
                  <c:y val="-5.0300925396202352E-2"/>
                </c:manualLayout>
              </c:layout>
              <c:tx>
                <c:rich>
                  <a:bodyPr rot="0" spcFirstLastPara="1" vertOverflow="ellipsis" vert="horz" wrap="square" lIns="0" tIns="0" rIns="0" bIns="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8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a:t>6.5h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6.4029391275356839E-2"/>
                      <c:h val="5.6405688625389687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154D-4C90-8744-FABAD246ED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0"/>
                <c:pt idx="0">
                  <c:v>Person A</c:v>
                </c:pt>
                <c:pt idx="3">
                  <c:v>Person B</c:v>
                </c:pt>
                <c:pt idx="6">
                  <c:v>Person C</c:v>
                </c:pt>
                <c:pt idx="9">
                  <c:v>Person D</c:v>
                </c:pt>
              </c:strCache>
            </c:strRef>
          </c:cat>
          <c:val>
            <c:numRef>
              <c:f>Sheet1!$K$2:$K$13</c:f>
              <c:numCache>
                <c:formatCode>General</c:formatCode>
                <c:ptCount val="12"/>
                <c:pt idx="1">
                  <c:v>12</c:v>
                </c:pt>
                <c:pt idx="4">
                  <c:v>0.5</c:v>
                </c:pt>
                <c:pt idx="7">
                  <c:v>6.5</c:v>
                </c:pt>
                <c:pt idx="10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33C7-421A-B1A6-6A19527D1F47}"/>
            </c:ext>
          </c:extLst>
        </c:ser>
        <c:ser>
          <c:idx val="11"/>
          <c:order val="10"/>
          <c:tx>
            <c:strRef>
              <c:f>Sheet1!$L$1</c:f>
              <c:strCache>
                <c:ptCount val="1"/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0"/>
                <c:pt idx="0">
                  <c:v>Person A</c:v>
                </c:pt>
                <c:pt idx="3">
                  <c:v>Person B</c:v>
                </c:pt>
                <c:pt idx="6">
                  <c:v>Person C</c:v>
                </c:pt>
                <c:pt idx="9">
                  <c:v>Person D</c:v>
                </c:pt>
              </c:strCache>
            </c:strRef>
          </c:cat>
          <c:val>
            <c:numRef>
              <c:f>Sheet1!$L$2:$L$13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A-33C7-421A-B1A6-6A19527D1F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470353760"/>
        <c:axId val="1470354240"/>
      </c:barChart>
      <c:catAx>
        <c:axId val="147035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0354240"/>
        <c:crosses val="autoZero"/>
        <c:auto val="1"/>
        <c:lblAlgn val="ctr"/>
        <c:lblOffset val="100"/>
        <c:noMultiLvlLbl val="0"/>
      </c:catAx>
      <c:valAx>
        <c:axId val="147035424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dirty="0"/>
                  <a:t># Stunden</a:t>
                </a:r>
              </a:p>
            </c:rich>
          </c:tx>
          <c:layout>
            <c:manualLayout>
              <c:xMode val="edge"/>
              <c:yMode val="edge"/>
              <c:x val="2.0338622782606036E-2"/>
              <c:y val="0.1362024077552321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035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legendEntry>
        <c:idx val="4"/>
        <c:delete val="1"/>
      </c:legendEntry>
      <c:legendEntry>
        <c:idx val="10"/>
        <c:delete val="1"/>
      </c:legendEntry>
      <c:layout>
        <c:manualLayout>
          <c:xMode val="edge"/>
          <c:yMode val="edge"/>
          <c:x val="0.1611947230227532"/>
          <c:y val="0.90056281586604714"/>
          <c:w val="0.63673251369894557"/>
          <c:h val="6.10254270460251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460B1-C373-42D6-934C-F2B8B8031C9D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F6546-9EDD-4CCD-BFAA-B3D66A6707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0578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SwissDRG-Fallpauschalensystem für schweizer Spitäle zur Leistungsabrechnung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F6546-9EDD-4CCD-BFAA-B3D66A670733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9787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FE0E0-DF21-13C9-B2DB-415281734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C0443-ED1D-64F9-4407-2A0947F0A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27C9C-58BF-ED62-D097-A3529C762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Kleine Teaser für Demo</a:t>
            </a:r>
            <a:br>
              <a:rPr lang="de-DE" dirty="0"/>
            </a:br>
            <a:br>
              <a:rPr lang="de-DE" dirty="0"/>
            </a:br>
            <a:r>
              <a:rPr lang="de-DE" dirty="0"/>
              <a:t>ChatGBT 30 minuten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29EF5-D64E-AA69-62F4-FB4FB3564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F6546-9EDD-4CCD-BFAA-B3D66A670733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052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FEAB4-3085-63E6-7743-F94EB0F67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C51239-BF32-E07B-476D-FD77ECBE4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8584F-18E6-98C2-770F-A1FA266D3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>
                    <a:lumMod val="85000"/>
                  </a:schemeClr>
                </a:solidFill>
              </a:rPr>
              <a:t>- 40h Arbeitsaufwand</a:t>
            </a:r>
            <a:br>
              <a:rPr lang="de-DE" sz="12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de-DE" sz="1200" dirty="0">
                <a:solidFill>
                  <a:schemeClr val="bg1">
                    <a:lumMod val="85000"/>
                  </a:schemeClr>
                </a:solidFill>
              </a:rPr>
              <a:t>-Zeitrechnungen Logs und Git Logs erstellt</a:t>
            </a:r>
            <a:br>
              <a:rPr lang="de-DE" sz="1200" dirty="0">
                <a:solidFill>
                  <a:schemeClr val="bg1">
                    <a:lumMod val="85000"/>
                  </a:schemeClr>
                </a:solidFill>
              </a:rPr>
            </a:br>
            <a:br>
              <a:rPr lang="de-DE" sz="12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de-DE" sz="1200" dirty="0">
                <a:solidFill>
                  <a:schemeClr val="bg1">
                    <a:lumMod val="85000"/>
                  </a:schemeClr>
                </a:solidFill>
              </a:rPr>
              <a:t>-Erkläre Graph</a:t>
            </a:r>
          </a:p>
          <a:p>
            <a:br>
              <a:rPr lang="de-DE" dirty="0"/>
            </a:br>
            <a:r>
              <a:rPr lang="de-DE" dirty="0"/>
              <a:t>- Verschätzung admin, </a:t>
            </a:r>
            <a:br>
              <a:rPr lang="de-DE" dirty="0"/>
            </a:br>
            <a:r>
              <a:rPr lang="de-DE" dirty="0"/>
              <a:t>- Wollen Coden</a:t>
            </a:r>
            <a:br>
              <a:rPr lang="de-DE" dirty="0"/>
            </a:br>
            <a:r>
              <a:rPr lang="de-DE" dirty="0"/>
              <a:t>-Denkt nicht an Admin Aufgaben( Git erstellen, emails. Etc git wird durch doku ersetzt.)</a:t>
            </a:r>
            <a:br>
              <a:rPr lang="de-DE" dirty="0"/>
            </a:br>
            <a:endParaRPr lang="de-DE" dirty="0"/>
          </a:p>
          <a:p>
            <a:r>
              <a:rPr lang="de-DE" dirty="0"/>
              <a:t>-Verschätzung noch schlimmer!!</a:t>
            </a:r>
            <a:br>
              <a:rPr lang="de-DE" dirty="0"/>
            </a:br>
            <a:r>
              <a:rPr lang="de-DE" dirty="0"/>
              <a:t>-Keine dokumentation, keine tests:</a:t>
            </a:r>
            <a:br>
              <a:rPr lang="de-DE" dirty="0"/>
            </a:br>
            <a:r>
              <a:rPr lang="de-DE" dirty="0"/>
              <a:t>- NOOOCHH keine probleme</a:t>
            </a:r>
            <a:br>
              <a:rPr lang="de-DE" dirty="0"/>
            </a:br>
            <a:r>
              <a:rPr lang="de-DE" dirty="0"/>
              <a:t>-Admin bruacht um einiges mehr Zeit</a:t>
            </a:r>
          </a:p>
          <a:p>
            <a:endParaRPr lang="de-DE" dirty="0"/>
          </a:p>
          <a:p>
            <a:r>
              <a:rPr lang="de-DE" dirty="0"/>
              <a:t>-Massnahme: Zeit einplanen und gezwunger admin aufgaben nachgehen</a:t>
            </a:r>
            <a:br>
              <a:rPr lang="de-DE" dirty="0"/>
            </a:br>
            <a:br>
              <a:rPr lang="de-DE" dirty="0"/>
            </a:br>
            <a:r>
              <a:rPr lang="de-DE" dirty="0"/>
              <a:t>-Verteilung Unbalanciert,</a:t>
            </a:r>
          </a:p>
          <a:p>
            <a:r>
              <a:rPr lang="de-DE" dirty="0"/>
              <a:t>-alle zufrieden, </a:t>
            </a:r>
          </a:p>
          <a:p>
            <a:r>
              <a:rPr lang="de-DE" dirty="0"/>
              <a:t>Grund: warum niemand ungklücklich wurde, kommunikation&gt;&gt;&gt;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A2D0C-723B-3A2F-04D8-2F4123BF9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F6546-9EDD-4CCD-BFAA-B3D66A670733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5111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07796-F9FC-5C46-C06B-D28553D02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8AF1C-70E2-954A-89CF-54004B014B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714FC0-3D9B-D588-5D27-8AC161E63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Problem: Spam</a:t>
            </a:r>
            <a:br>
              <a:rPr lang="de-DE" dirty="0"/>
            </a:br>
            <a:r>
              <a:rPr lang="de-DE" dirty="0"/>
              <a:t>Massnahme: Weekly meetings,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- fokus auf Aufgaben und abläufe (schlüsselkonzepte)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de-DE" dirty="0"/>
            </a:br>
            <a:br>
              <a:rPr lang="de-DE" dirty="0"/>
            </a:br>
            <a:r>
              <a:rPr lang="de-DE" dirty="0"/>
              <a:t>Frage : Was kommt in den Chat? Was ist zu viel</a:t>
            </a:r>
            <a:br>
              <a:rPr lang="de-DE" dirty="0"/>
            </a:br>
            <a:r>
              <a:rPr lang="de-DE" dirty="0"/>
              <a:t>Private nachrichten technisches, trivial nicht</a:t>
            </a:r>
            <a:br>
              <a:rPr lang="de-DE" dirty="0"/>
            </a:br>
            <a:r>
              <a:rPr lang="de-DE" dirty="0"/>
              <a:t>Niemand will ausgelassen werde, jeder will kontrolle haben. </a:t>
            </a:r>
            <a:br>
              <a:rPr lang="de-DE" dirty="0"/>
            </a:b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Lesson Learned: Viel ist nicht besser, Gesamtbild wichtig und vertrauen, man geht ein gewisses risiko ein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2EF2C-53EA-7A85-1479-B3AB533B9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F6546-9EDD-4CCD-BFAA-B3D66A670733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0117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45F2B-0965-DD73-8CE6-0C50999F3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B0191-A93D-07C9-81A7-AE05C0B9E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DEDAD9-F44F-321C-0050-AF1B75031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-Dachten Umgebung Problem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-NEIN: Vague anforderunge. Viel Vertrauen. Aber unerfahrenheit+ freihet -&gt; erdrückend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Massnahmne: in Kunden versetzt und slebst überlegt was wünsche wären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Bisschen geplant und Einfach losgelegt.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de-DE" dirty="0"/>
            </a:b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Hatten viel glück , er war sehr zufrieden</a:t>
            </a:r>
            <a:br>
              <a:rPr lang="de-DE" dirty="0"/>
            </a:b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Lesson learned.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-Gefahr von developer bias 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-kunden interaktion wichtig auch wenn wir ihn nur selten sehen.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-Striktere Ausrichting an kunden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-mehr nachfragen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Allgemein Einsicht: Risiken unbekannt größeres problem,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/>
              <a:t>logisch, aber selbst gross eingeschätze probleme waren keine probleme ,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/>
              <a:t> kleine aber unbekannte schon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Deswegen mehr über risiken nachdenken, planen</a:t>
            </a:r>
            <a:br>
              <a:rPr lang="de-DE" dirty="0"/>
            </a:b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6DA61-8C03-9A37-2C5F-B174934CA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F6546-9EDD-4CCD-BFAA-B3D66A670733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1765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F0204-949F-E23D-8F70-CE2D7AB4B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FF404-78F0-415C-83A3-2C060976E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7C347-713D-B03A-121D-94D143BB9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Viel spass und Erfolg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2D0CC-DB3F-30C1-7B3D-546DA0571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F6546-9EDD-4CCD-BFAA-B3D66A670733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8246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FC4F6-6C90-1052-791D-39D4E9CFC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24E3F-D670-C893-EBFD-9E2B31165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62176-AE2B-2B24-2574-1F93B38F3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Wie kann es sein das eine Person so viel macht, wurde sie in den keller eingesperrt?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03BE8-68F9-7F3B-827B-5778F9545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F6546-9EDD-4CCD-BFAA-B3D66A670733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805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2372F-D8EC-6EA1-5C9E-30DDA7592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7DA914-6778-48B9-857E-E9E1E6909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E8F3E-A667-2093-9943-6D7F04946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54ED9-DC92-4B34-96B4-24B4BB371906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A20EB-A44D-BC29-A636-2DF87C265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4DC22-2F72-18AE-B8DF-0095ED9D9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EE81-A5A7-4DE1-B142-93736F5D88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8959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43AC0-686A-49D5-6429-BFD617FAB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07195-C9CF-41A8-1791-A2FB50B7C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E73D7-0DBA-199C-32BC-EA4B2DF19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54ED9-DC92-4B34-96B4-24B4BB371906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D2F47-60DF-DD19-43D4-E0631809F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B568C-23D9-DB1C-AC06-5F4DAF349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EE81-A5A7-4DE1-B142-93736F5D88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0358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9E8CF-9888-37C9-DD0B-31480D4DF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15DF9-AFB0-DD3C-B219-0C814D90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1D420-3D2B-E879-85DA-A0150C5FE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54ED9-DC92-4B34-96B4-24B4BB371906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96AD3-0848-4B88-2721-A42068497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BDE0A-5CE5-95F6-156B-1A6AC4358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EE81-A5A7-4DE1-B142-93736F5D88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9901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27CCD-E624-1791-BAED-860BD4CF7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9FA41-DD41-6057-379A-5ED43ADCF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540C8-5A9F-AD93-4FC7-CFD4F2013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BE907-2C39-ED55-AF6E-B07A9DF9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54ED9-DC92-4B34-96B4-24B4BB371906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C40E1-A807-CF27-60A6-539878EFC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42A94-19F4-885A-1883-3548E14D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EE81-A5A7-4DE1-B142-93736F5D88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9355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8CAC3-78AA-CFD5-6869-DA51E75A1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C7BFF-7274-AE51-C583-F4EF63E8C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03A4B-FFA4-6AAD-4DA2-075269AF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B32C7-629C-AECB-C955-C1D832CDD4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0313D1-FCBD-DE73-1BE0-923A0DA7C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4C37C6-7267-6046-FAC9-5EB1BBBBB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54ED9-DC92-4B34-96B4-24B4BB371906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CCFD8F-C951-0806-4CDE-A8F56B07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7ED254-FD39-B2A4-2A98-5A9B2B709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EE81-A5A7-4DE1-B142-93736F5D88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5274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5DE1E-0A7D-0587-AC87-7EB22A944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79E34A-4926-DB9F-9A22-B2B7826DD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54ED9-DC92-4B34-96B4-24B4BB371906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818BF3-AAF8-AE97-8B10-0F74426A1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1830D-03E4-B3F0-4590-C09FD6FE3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EE81-A5A7-4DE1-B142-93736F5D88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9188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85DFF6-4DF1-613D-D754-C4B292C7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54ED9-DC92-4B34-96B4-24B4BB371906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C1157-17C4-53FA-C2A8-FC59A2EF9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D12DB-8E8A-ED04-802F-261316160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EE81-A5A7-4DE1-B142-93736F5D88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4379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E25F6-371D-079E-C3B3-BBF38A4F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A1866-A0C0-210D-FEBF-D07ED3EF2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406BF-7284-9135-B250-A873D1776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C8A60-967C-2456-961B-2F10DD03F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54ED9-DC92-4B34-96B4-24B4BB371906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D3FD9-BB6E-E33F-A5E1-F38CA1ECD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F8385-7716-DD9F-640D-859312022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EE81-A5A7-4DE1-B142-93736F5D88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364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CA400-6476-616B-8953-A580F9134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98A4F0-2A8D-3DBF-140F-362F6416C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874A0-13DE-8DCD-2806-7D5C7AB21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4DAD8-FB43-332A-83A6-EBC76FA5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54ED9-DC92-4B34-96B4-24B4BB371906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3FA47-00CC-CBB0-49A1-C6777F9E3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72FCB-F469-3B7E-7DE4-CAC2E1CEC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EE81-A5A7-4DE1-B142-93736F5D88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8673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3407-20A6-BD19-6D1A-3F54E2947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2FE33D-5E3E-4BA7-B50F-11586E992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1E916-6887-839D-FE87-A6A4D472F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54ED9-DC92-4B34-96B4-24B4BB371906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64533-FBB5-F0F6-7017-7BFD69B1D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99899-5449-BA39-3074-6E820437C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EE81-A5A7-4DE1-B142-93736F5D88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8195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AD0139-566E-D201-BCC5-00A2C8E0EA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E4052-1E86-9002-1A24-EA196A5CD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2DDC4-C207-CC1B-8089-023425AFA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54ED9-DC92-4B34-96B4-24B4BB371906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E2A69-EC96-0B34-9D3C-57EB2623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0F92A-8A91-E0F7-E4F2-1CC6331EF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EE81-A5A7-4DE1-B142-93736F5D88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1688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100727-F94E-1E86-7D70-26BC29571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7C3E1-EA5F-E220-F601-FDD15A322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25B0D-FFD6-60B6-628E-317C969FC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E54ED9-DC92-4B34-96B4-24B4BB371906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78694-E2A1-08BD-5F3A-9CC61F2AF3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6412D-05F3-FD17-095E-7C2BB89A2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45EE81-A5A7-4DE1-B142-93736F5D88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964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2F595-7844-63C9-26B1-B065A4A1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D4434-3D3B-F27C-676C-E23803350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2838"/>
            <a:ext cx="9144000" cy="1233124"/>
          </a:xfrm>
        </p:spPr>
        <p:txBody>
          <a:bodyPr/>
          <a:lstStyle/>
          <a:p>
            <a:r>
              <a:rPr lang="de-DE" b="1" dirty="0"/>
              <a:t>Analyse der ersten Iteration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5508A-3CAB-45F4-0C9E-4DCB2253BF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Praktikum Software Engineering</a:t>
            </a:r>
          </a:p>
          <a:p>
            <a:r>
              <a:rPr lang="de-DE" dirty="0"/>
              <a:t>Gruppe: Birk, Carlo, Elia, Tom</a:t>
            </a:r>
          </a:p>
          <a:p>
            <a:endParaRPr lang="de-DE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AC0A0B0-7B9A-0D47-51B5-F5B14C9CC188}"/>
              </a:ext>
            </a:extLst>
          </p:cNvPr>
          <p:cNvGrpSpPr/>
          <p:nvPr/>
        </p:nvGrpSpPr>
        <p:grpSpPr>
          <a:xfrm>
            <a:off x="0" y="0"/>
            <a:ext cx="12249509" cy="720822"/>
            <a:chOff x="0" y="0"/>
            <a:chExt cx="12249509" cy="720822"/>
          </a:xfrm>
        </p:grpSpPr>
        <p:pic>
          <p:nvPicPr>
            <p:cNvPr id="5" name="Picture 4" descr="SWIss DRG&#10;&#10;AI-generated content may be incorrect.">
              <a:extLst>
                <a:ext uri="{FF2B5EF4-FFF2-40B4-BE49-F238E27FC236}">
                  <a16:creationId xmlns:a16="http://schemas.microsoft.com/office/drawing/2014/main" id="{58E8FB43-3831-491F-ABBC-7AE3A11E4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3657600" cy="72082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B1844A-EB1C-0465-6A7D-8C12FC31CC1B}"/>
                </a:ext>
              </a:extLst>
            </p:cNvPr>
            <p:cNvSpPr/>
            <p:nvPr/>
          </p:nvSpPr>
          <p:spPr>
            <a:xfrm>
              <a:off x="3657600" y="0"/>
              <a:ext cx="8591909" cy="720822"/>
            </a:xfrm>
            <a:prstGeom prst="rect">
              <a:avLst/>
            </a:prstGeom>
            <a:solidFill>
              <a:srgbClr val="23B7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26E871F-F2A4-159E-A390-0500274032FA}"/>
                </a:ext>
              </a:extLst>
            </p:cNvPr>
            <p:cNvSpPr/>
            <p:nvPr/>
          </p:nvSpPr>
          <p:spPr>
            <a:xfrm>
              <a:off x="11375366" y="276125"/>
              <a:ext cx="315636" cy="243028"/>
            </a:xfrm>
            <a:custGeom>
              <a:avLst/>
              <a:gdLst>
                <a:gd name="csX0" fmla="*/ 74027 w 138371"/>
                <a:gd name="csY0" fmla="*/ 88156 h 114621"/>
                <a:gd name="csX1" fmla="*/ 28733 w 138371"/>
                <a:gd name="csY1" fmla="*/ 114676 h 114621"/>
                <a:gd name="csX2" fmla="*/ 4143 w 138371"/>
                <a:gd name="csY2" fmla="*/ 94776 h 114621"/>
                <a:gd name="csX3" fmla="*/ 7733 w 138371"/>
                <a:gd name="csY3" fmla="*/ 73231 h 114621"/>
                <a:gd name="csX4" fmla="*/ 21814 w 138371"/>
                <a:gd name="csY4" fmla="*/ 8056 h 114621"/>
                <a:gd name="csX5" fmla="*/ 9 w 138371"/>
                <a:gd name="csY5" fmla="*/ 8056 h 114621"/>
                <a:gd name="csX6" fmla="*/ 1935 w 138371"/>
                <a:gd name="csY6" fmla="*/ 1161 h 114621"/>
                <a:gd name="csX7" fmla="*/ 27351 w 138371"/>
                <a:gd name="csY7" fmla="*/ 1161 h 114621"/>
                <a:gd name="csX8" fmla="*/ 52745 w 138371"/>
                <a:gd name="csY8" fmla="*/ 54 h 114621"/>
                <a:gd name="csX9" fmla="*/ 35916 w 138371"/>
                <a:gd name="csY9" fmla="*/ 71586 h 114621"/>
                <a:gd name="csX10" fmla="*/ 31763 w 138371"/>
                <a:gd name="csY10" fmla="*/ 94513 h 114621"/>
                <a:gd name="csX11" fmla="*/ 43636 w 138371"/>
                <a:gd name="csY11" fmla="*/ 103341 h 114621"/>
                <a:gd name="csX12" fmla="*/ 58002 w 138371"/>
                <a:gd name="csY12" fmla="*/ 97262 h 114621"/>
                <a:gd name="csX13" fmla="*/ 79543 w 138371"/>
                <a:gd name="csY13" fmla="*/ 60251 h 114621"/>
                <a:gd name="csX14" fmla="*/ 93630 w 138371"/>
                <a:gd name="csY14" fmla="*/ 1161 h 114621"/>
                <a:gd name="csX15" fmla="*/ 122352 w 138371"/>
                <a:gd name="csY15" fmla="*/ 1161 h 114621"/>
                <a:gd name="csX16" fmla="*/ 103856 w 138371"/>
                <a:gd name="csY16" fmla="*/ 82074 h 114621"/>
                <a:gd name="csX17" fmla="*/ 101088 w 138371"/>
                <a:gd name="csY17" fmla="*/ 98644 h 114621"/>
                <a:gd name="csX18" fmla="*/ 106601 w 138371"/>
                <a:gd name="csY18" fmla="*/ 103078 h 114621"/>
                <a:gd name="csX19" fmla="*/ 132301 w 138371"/>
                <a:gd name="csY19" fmla="*/ 72127 h 114621"/>
                <a:gd name="csX20" fmla="*/ 138380 w 138371"/>
                <a:gd name="csY20" fmla="*/ 75457 h 114621"/>
                <a:gd name="csX21" fmla="*/ 94725 w 138371"/>
                <a:gd name="csY21" fmla="*/ 114676 h 114621"/>
                <a:gd name="csX22" fmla="*/ 74027 w 138371"/>
                <a:gd name="csY22" fmla="*/ 88156 h 114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38371" h="114621">
                  <a:moveTo>
                    <a:pt x="74027" y="88156"/>
                  </a:moveTo>
                  <a:cubicBezTo>
                    <a:pt x="62154" y="103078"/>
                    <a:pt x="48055" y="114676"/>
                    <a:pt x="28733" y="114676"/>
                  </a:cubicBezTo>
                  <a:cubicBezTo>
                    <a:pt x="15738" y="114676"/>
                    <a:pt x="4143" y="110260"/>
                    <a:pt x="4143" y="94776"/>
                  </a:cubicBezTo>
                  <a:cubicBezTo>
                    <a:pt x="4143" y="90920"/>
                    <a:pt x="5806" y="82074"/>
                    <a:pt x="7733" y="73231"/>
                  </a:cubicBezTo>
                  <a:cubicBezTo>
                    <a:pt x="7733" y="73231"/>
                    <a:pt x="21814" y="8056"/>
                    <a:pt x="21814" y="8056"/>
                  </a:cubicBezTo>
                  <a:cubicBezTo>
                    <a:pt x="21814" y="8056"/>
                    <a:pt x="9" y="8056"/>
                    <a:pt x="9" y="8056"/>
                  </a:cubicBezTo>
                  <a:cubicBezTo>
                    <a:pt x="9" y="8056"/>
                    <a:pt x="1935" y="1161"/>
                    <a:pt x="1935" y="1161"/>
                  </a:cubicBezTo>
                  <a:cubicBezTo>
                    <a:pt x="1935" y="1161"/>
                    <a:pt x="27351" y="1161"/>
                    <a:pt x="27351" y="1161"/>
                  </a:cubicBezTo>
                  <a:cubicBezTo>
                    <a:pt x="35916" y="1161"/>
                    <a:pt x="44199" y="54"/>
                    <a:pt x="52745" y="54"/>
                  </a:cubicBezTo>
                  <a:cubicBezTo>
                    <a:pt x="52745" y="54"/>
                    <a:pt x="35916" y="71586"/>
                    <a:pt x="35916" y="71586"/>
                  </a:cubicBezTo>
                  <a:cubicBezTo>
                    <a:pt x="33690" y="81533"/>
                    <a:pt x="31763" y="90920"/>
                    <a:pt x="31763" y="94513"/>
                  </a:cubicBezTo>
                  <a:cubicBezTo>
                    <a:pt x="31763" y="101692"/>
                    <a:pt x="38124" y="103341"/>
                    <a:pt x="43636" y="103341"/>
                  </a:cubicBezTo>
                  <a:cubicBezTo>
                    <a:pt x="48333" y="103341"/>
                    <a:pt x="54134" y="99751"/>
                    <a:pt x="58002" y="97262"/>
                  </a:cubicBezTo>
                  <a:cubicBezTo>
                    <a:pt x="70438" y="89253"/>
                    <a:pt x="76232" y="74072"/>
                    <a:pt x="79543" y="60251"/>
                  </a:cubicBezTo>
                  <a:cubicBezTo>
                    <a:pt x="79543" y="60251"/>
                    <a:pt x="93630" y="1161"/>
                    <a:pt x="93630" y="1161"/>
                  </a:cubicBezTo>
                  <a:cubicBezTo>
                    <a:pt x="93630" y="1161"/>
                    <a:pt x="122352" y="1161"/>
                    <a:pt x="122352" y="1161"/>
                  </a:cubicBezTo>
                  <a:cubicBezTo>
                    <a:pt x="122352" y="1161"/>
                    <a:pt x="103856" y="82074"/>
                    <a:pt x="103856" y="82074"/>
                  </a:cubicBezTo>
                  <a:cubicBezTo>
                    <a:pt x="101914" y="90360"/>
                    <a:pt x="100807" y="96718"/>
                    <a:pt x="101088" y="98644"/>
                  </a:cubicBezTo>
                  <a:cubicBezTo>
                    <a:pt x="101373" y="101414"/>
                    <a:pt x="104140" y="103078"/>
                    <a:pt x="106601" y="103078"/>
                  </a:cubicBezTo>
                  <a:cubicBezTo>
                    <a:pt x="116557" y="103078"/>
                    <a:pt x="128709" y="80148"/>
                    <a:pt x="132301" y="72127"/>
                  </a:cubicBezTo>
                  <a:cubicBezTo>
                    <a:pt x="132301" y="72127"/>
                    <a:pt x="138380" y="75457"/>
                    <a:pt x="138380" y="75457"/>
                  </a:cubicBezTo>
                  <a:cubicBezTo>
                    <a:pt x="131201" y="93950"/>
                    <a:pt x="116016" y="114676"/>
                    <a:pt x="94725" y="114676"/>
                  </a:cubicBezTo>
                  <a:cubicBezTo>
                    <a:pt x="78161" y="114676"/>
                    <a:pt x="73749" y="104185"/>
                    <a:pt x="74027" y="88156"/>
                  </a:cubicBezTo>
                </a:path>
              </a:pathLst>
            </a:custGeom>
            <a:solidFill>
              <a:srgbClr val="161413"/>
            </a:solidFill>
            <a:ln w="3143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BB2F3C-DBE8-6F9D-E5D7-001BCA10B59B}"/>
                </a:ext>
              </a:extLst>
            </p:cNvPr>
            <p:cNvSpPr/>
            <p:nvPr/>
          </p:nvSpPr>
          <p:spPr>
            <a:xfrm>
              <a:off x="11710898" y="111909"/>
              <a:ext cx="99163" cy="156002"/>
            </a:xfrm>
            <a:custGeom>
              <a:avLst/>
              <a:gdLst>
                <a:gd name="csX0" fmla="*/ 55 w 43472"/>
                <a:gd name="csY0" fmla="*/ 72867 h 73576"/>
                <a:gd name="csX1" fmla="*/ 9913 w 43472"/>
                <a:gd name="csY1" fmla="*/ 29 h 73576"/>
                <a:gd name="csX2" fmla="*/ 19096 w 43472"/>
                <a:gd name="csY2" fmla="*/ 29 h 73576"/>
                <a:gd name="csX3" fmla="*/ 15082 w 43472"/>
                <a:gd name="csY3" fmla="*/ 28253 h 73576"/>
                <a:gd name="csX4" fmla="*/ 15280 w 43472"/>
                <a:gd name="csY4" fmla="*/ 28450 h 73576"/>
                <a:gd name="csX5" fmla="*/ 26820 w 43472"/>
                <a:gd name="csY5" fmla="*/ 23179 h 73576"/>
                <a:gd name="csX6" fmla="*/ 43528 w 43472"/>
                <a:gd name="csY6" fmla="*/ 44841 h 73576"/>
                <a:gd name="csX7" fmla="*/ 12637 w 43472"/>
                <a:gd name="csY7" fmla="*/ 73606 h 73576"/>
                <a:gd name="csX8" fmla="*/ 55 w 43472"/>
                <a:gd name="csY8" fmla="*/ 72867 h 73576"/>
                <a:gd name="csX9" fmla="*/ 13920 w 43472"/>
                <a:gd name="csY9" fmla="*/ 37022 h 73576"/>
                <a:gd name="csX10" fmla="*/ 9789 w 43472"/>
                <a:gd name="csY10" fmla="*/ 66203 h 73576"/>
                <a:gd name="csX11" fmla="*/ 14764 w 43472"/>
                <a:gd name="csY11" fmla="*/ 66203 h 73576"/>
                <a:gd name="csX12" fmla="*/ 34317 w 43472"/>
                <a:gd name="csY12" fmla="*/ 44643 h 73576"/>
                <a:gd name="csX13" fmla="*/ 24074 w 43472"/>
                <a:gd name="csY13" fmla="*/ 31001 h 73576"/>
                <a:gd name="csX14" fmla="*/ 13920 w 43472"/>
                <a:gd name="csY14" fmla="*/ 37022 h 735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3472" h="73576">
                  <a:moveTo>
                    <a:pt x="55" y="72867"/>
                  </a:moveTo>
                  <a:cubicBezTo>
                    <a:pt x="55" y="72867"/>
                    <a:pt x="9913" y="29"/>
                    <a:pt x="9913" y="29"/>
                  </a:cubicBezTo>
                  <a:cubicBezTo>
                    <a:pt x="9913" y="29"/>
                    <a:pt x="19096" y="29"/>
                    <a:pt x="19096" y="29"/>
                  </a:cubicBezTo>
                  <a:cubicBezTo>
                    <a:pt x="19096" y="29"/>
                    <a:pt x="15082" y="28253"/>
                    <a:pt x="15082" y="28253"/>
                  </a:cubicBezTo>
                  <a:cubicBezTo>
                    <a:pt x="15082" y="28253"/>
                    <a:pt x="15280" y="28450"/>
                    <a:pt x="15280" y="28450"/>
                  </a:cubicBezTo>
                  <a:cubicBezTo>
                    <a:pt x="19195" y="24542"/>
                    <a:pt x="22364" y="23179"/>
                    <a:pt x="26820" y="23179"/>
                  </a:cubicBezTo>
                  <a:cubicBezTo>
                    <a:pt x="36745" y="23179"/>
                    <a:pt x="43528" y="32062"/>
                    <a:pt x="43528" y="44841"/>
                  </a:cubicBezTo>
                  <a:cubicBezTo>
                    <a:pt x="43528" y="57540"/>
                    <a:pt x="36547" y="73606"/>
                    <a:pt x="12637" y="73606"/>
                  </a:cubicBezTo>
                  <a:cubicBezTo>
                    <a:pt x="8104" y="73606"/>
                    <a:pt x="2811" y="73287"/>
                    <a:pt x="55" y="72867"/>
                  </a:cubicBezTo>
                  <a:close/>
                  <a:moveTo>
                    <a:pt x="13920" y="37022"/>
                  </a:moveTo>
                  <a:cubicBezTo>
                    <a:pt x="13920" y="37022"/>
                    <a:pt x="9789" y="66203"/>
                    <a:pt x="9789" y="66203"/>
                  </a:cubicBezTo>
                  <a:cubicBezTo>
                    <a:pt x="9789" y="66203"/>
                    <a:pt x="14764" y="66203"/>
                    <a:pt x="14764" y="66203"/>
                  </a:cubicBezTo>
                  <a:cubicBezTo>
                    <a:pt x="27243" y="66203"/>
                    <a:pt x="34317" y="57441"/>
                    <a:pt x="34317" y="44643"/>
                  </a:cubicBezTo>
                  <a:cubicBezTo>
                    <a:pt x="34317" y="35973"/>
                    <a:pt x="30412" y="31001"/>
                    <a:pt x="24074" y="31001"/>
                  </a:cubicBezTo>
                  <a:cubicBezTo>
                    <a:pt x="21102" y="31001"/>
                    <a:pt x="14541" y="33008"/>
                    <a:pt x="13920" y="37022"/>
                  </a:cubicBezTo>
                </a:path>
              </a:pathLst>
            </a:custGeom>
            <a:solidFill>
              <a:srgbClr val="161413"/>
            </a:solidFill>
            <a:ln w="3143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18C43501-E3D1-14B1-6989-231CB0D90927}"/>
              </a:ext>
            </a:extLst>
          </p:cNvPr>
          <p:cNvSpPr/>
          <p:nvPr/>
        </p:nvSpPr>
        <p:spPr>
          <a:xfrm>
            <a:off x="10508484" y="787817"/>
            <a:ext cx="1307392" cy="6713"/>
          </a:xfrm>
          <a:custGeom>
            <a:avLst/>
            <a:gdLst>
              <a:gd name="csX0" fmla="*/ 9 w 573144"/>
              <a:gd name="csY0" fmla="*/ 126 h 3166"/>
              <a:gd name="csX1" fmla="*/ 573154 w 573144"/>
              <a:gd name="csY1" fmla="*/ 126 h 316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3144" h="3166">
                <a:moveTo>
                  <a:pt x="9" y="126"/>
                </a:moveTo>
                <a:cubicBezTo>
                  <a:pt x="9" y="126"/>
                  <a:pt x="573154" y="126"/>
                  <a:pt x="573154" y="126"/>
                </a:cubicBezTo>
              </a:path>
            </a:pathLst>
          </a:custGeom>
          <a:noFill/>
          <a:ln w="5656" cap="flat">
            <a:noFill/>
            <a:prstDash val="solid"/>
            <a:miter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3738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1ACEB-64CA-F1D4-D90C-27078EDFE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393950" y="550348"/>
            <a:ext cx="9144000" cy="1233124"/>
          </a:xfrm>
        </p:spPr>
        <p:txBody>
          <a:bodyPr>
            <a:normAutofit/>
          </a:bodyPr>
          <a:lstStyle/>
          <a:p>
            <a:r>
              <a:rPr lang="de-DE" sz="4800" dirty="0"/>
              <a:t>Einleitung: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5946E14-1F20-8C81-AD04-6993FB73C32B}"/>
              </a:ext>
            </a:extLst>
          </p:cNvPr>
          <p:cNvGrpSpPr/>
          <p:nvPr/>
        </p:nvGrpSpPr>
        <p:grpSpPr>
          <a:xfrm>
            <a:off x="0" y="0"/>
            <a:ext cx="12249509" cy="720822"/>
            <a:chOff x="0" y="0"/>
            <a:chExt cx="12249509" cy="720822"/>
          </a:xfrm>
        </p:grpSpPr>
        <p:pic>
          <p:nvPicPr>
            <p:cNvPr id="5" name="Picture 4" descr="SWIss DRG&#10;&#10;AI-generated content may be incorrect.">
              <a:extLst>
                <a:ext uri="{FF2B5EF4-FFF2-40B4-BE49-F238E27FC236}">
                  <a16:creationId xmlns:a16="http://schemas.microsoft.com/office/drawing/2014/main" id="{2D79EFA9-998C-1BE4-8219-15CC630A4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3657600" cy="72082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B10D26B-14F4-9B0F-C96F-BFEB53305E2D}"/>
                </a:ext>
              </a:extLst>
            </p:cNvPr>
            <p:cNvSpPr/>
            <p:nvPr/>
          </p:nvSpPr>
          <p:spPr>
            <a:xfrm>
              <a:off x="3657600" y="0"/>
              <a:ext cx="8591909" cy="720822"/>
            </a:xfrm>
            <a:prstGeom prst="rect">
              <a:avLst/>
            </a:prstGeom>
            <a:solidFill>
              <a:srgbClr val="23B7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E5F6E06-5C70-0397-BADE-D33C52F853F5}"/>
                </a:ext>
              </a:extLst>
            </p:cNvPr>
            <p:cNvSpPr/>
            <p:nvPr/>
          </p:nvSpPr>
          <p:spPr>
            <a:xfrm>
              <a:off x="11375366" y="276125"/>
              <a:ext cx="315636" cy="243028"/>
            </a:xfrm>
            <a:custGeom>
              <a:avLst/>
              <a:gdLst>
                <a:gd name="csX0" fmla="*/ 74027 w 138371"/>
                <a:gd name="csY0" fmla="*/ 88156 h 114621"/>
                <a:gd name="csX1" fmla="*/ 28733 w 138371"/>
                <a:gd name="csY1" fmla="*/ 114676 h 114621"/>
                <a:gd name="csX2" fmla="*/ 4143 w 138371"/>
                <a:gd name="csY2" fmla="*/ 94776 h 114621"/>
                <a:gd name="csX3" fmla="*/ 7733 w 138371"/>
                <a:gd name="csY3" fmla="*/ 73231 h 114621"/>
                <a:gd name="csX4" fmla="*/ 21814 w 138371"/>
                <a:gd name="csY4" fmla="*/ 8056 h 114621"/>
                <a:gd name="csX5" fmla="*/ 9 w 138371"/>
                <a:gd name="csY5" fmla="*/ 8056 h 114621"/>
                <a:gd name="csX6" fmla="*/ 1935 w 138371"/>
                <a:gd name="csY6" fmla="*/ 1161 h 114621"/>
                <a:gd name="csX7" fmla="*/ 27351 w 138371"/>
                <a:gd name="csY7" fmla="*/ 1161 h 114621"/>
                <a:gd name="csX8" fmla="*/ 52745 w 138371"/>
                <a:gd name="csY8" fmla="*/ 54 h 114621"/>
                <a:gd name="csX9" fmla="*/ 35916 w 138371"/>
                <a:gd name="csY9" fmla="*/ 71586 h 114621"/>
                <a:gd name="csX10" fmla="*/ 31763 w 138371"/>
                <a:gd name="csY10" fmla="*/ 94513 h 114621"/>
                <a:gd name="csX11" fmla="*/ 43636 w 138371"/>
                <a:gd name="csY11" fmla="*/ 103341 h 114621"/>
                <a:gd name="csX12" fmla="*/ 58002 w 138371"/>
                <a:gd name="csY12" fmla="*/ 97262 h 114621"/>
                <a:gd name="csX13" fmla="*/ 79543 w 138371"/>
                <a:gd name="csY13" fmla="*/ 60251 h 114621"/>
                <a:gd name="csX14" fmla="*/ 93630 w 138371"/>
                <a:gd name="csY14" fmla="*/ 1161 h 114621"/>
                <a:gd name="csX15" fmla="*/ 122352 w 138371"/>
                <a:gd name="csY15" fmla="*/ 1161 h 114621"/>
                <a:gd name="csX16" fmla="*/ 103856 w 138371"/>
                <a:gd name="csY16" fmla="*/ 82074 h 114621"/>
                <a:gd name="csX17" fmla="*/ 101088 w 138371"/>
                <a:gd name="csY17" fmla="*/ 98644 h 114621"/>
                <a:gd name="csX18" fmla="*/ 106601 w 138371"/>
                <a:gd name="csY18" fmla="*/ 103078 h 114621"/>
                <a:gd name="csX19" fmla="*/ 132301 w 138371"/>
                <a:gd name="csY19" fmla="*/ 72127 h 114621"/>
                <a:gd name="csX20" fmla="*/ 138380 w 138371"/>
                <a:gd name="csY20" fmla="*/ 75457 h 114621"/>
                <a:gd name="csX21" fmla="*/ 94725 w 138371"/>
                <a:gd name="csY21" fmla="*/ 114676 h 114621"/>
                <a:gd name="csX22" fmla="*/ 74027 w 138371"/>
                <a:gd name="csY22" fmla="*/ 88156 h 114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38371" h="114621">
                  <a:moveTo>
                    <a:pt x="74027" y="88156"/>
                  </a:moveTo>
                  <a:cubicBezTo>
                    <a:pt x="62154" y="103078"/>
                    <a:pt x="48055" y="114676"/>
                    <a:pt x="28733" y="114676"/>
                  </a:cubicBezTo>
                  <a:cubicBezTo>
                    <a:pt x="15738" y="114676"/>
                    <a:pt x="4143" y="110260"/>
                    <a:pt x="4143" y="94776"/>
                  </a:cubicBezTo>
                  <a:cubicBezTo>
                    <a:pt x="4143" y="90920"/>
                    <a:pt x="5806" y="82074"/>
                    <a:pt x="7733" y="73231"/>
                  </a:cubicBezTo>
                  <a:cubicBezTo>
                    <a:pt x="7733" y="73231"/>
                    <a:pt x="21814" y="8056"/>
                    <a:pt x="21814" y="8056"/>
                  </a:cubicBezTo>
                  <a:cubicBezTo>
                    <a:pt x="21814" y="8056"/>
                    <a:pt x="9" y="8056"/>
                    <a:pt x="9" y="8056"/>
                  </a:cubicBezTo>
                  <a:cubicBezTo>
                    <a:pt x="9" y="8056"/>
                    <a:pt x="1935" y="1161"/>
                    <a:pt x="1935" y="1161"/>
                  </a:cubicBezTo>
                  <a:cubicBezTo>
                    <a:pt x="1935" y="1161"/>
                    <a:pt x="27351" y="1161"/>
                    <a:pt x="27351" y="1161"/>
                  </a:cubicBezTo>
                  <a:cubicBezTo>
                    <a:pt x="35916" y="1161"/>
                    <a:pt x="44199" y="54"/>
                    <a:pt x="52745" y="54"/>
                  </a:cubicBezTo>
                  <a:cubicBezTo>
                    <a:pt x="52745" y="54"/>
                    <a:pt x="35916" y="71586"/>
                    <a:pt x="35916" y="71586"/>
                  </a:cubicBezTo>
                  <a:cubicBezTo>
                    <a:pt x="33690" y="81533"/>
                    <a:pt x="31763" y="90920"/>
                    <a:pt x="31763" y="94513"/>
                  </a:cubicBezTo>
                  <a:cubicBezTo>
                    <a:pt x="31763" y="101692"/>
                    <a:pt x="38124" y="103341"/>
                    <a:pt x="43636" y="103341"/>
                  </a:cubicBezTo>
                  <a:cubicBezTo>
                    <a:pt x="48333" y="103341"/>
                    <a:pt x="54134" y="99751"/>
                    <a:pt x="58002" y="97262"/>
                  </a:cubicBezTo>
                  <a:cubicBezTo>
                    <a:pt x="70438" y="89253"/>
                    <a:pt x="76232" y="74072"/>
                    <a:pt x="79543" y="60251"/>
                  </a:cubicBezTo>
                  <a:cubicBezTo>
                    <a:pt x="79543" y="60251"/>
                    <a:pt x="93630" y="1161"/>
                    <a:pt x="93630" y="1161"/>
                  </a:cubicBezTo>
                  <a:cubicBezTo>
                    <a:pt x="93630" y="1161"/>
                    <a:pt x="122352" y="1161"/>
                    <a:pt x="122352" y="1161"/>
                  </a:cubicBezTo>
                  <a:cubicBezTo>
                    <a:pt x="122352" y="1161"/>
                    <a:pt x="103856" y="82074"/>
                    <a:pt x="103856" y="82074"/>
                  </a:cubicBezTo>
                  <a:cubicBezTo>
                    <a:pt x="101914" y="90360"/>
                    <a:pt x="100807" y="96718"/>
                    <a:pt x="101088" y="98644"/>
                  </a:cubicBezTo>
                  <a:cubicBezTo>
                    <a:pt x="101373" y="101414"/>
                    <a:pt x="104140" y="103078"/>
                    <a:pt x="106601" y="103078"/>
                  </a:cubicBezTo>
                  <a:cubicBezTo>
                    <a:pt x="116557" y="103078"/>
                    <a:pt x="128709" y="80148"/>
                    <a:pt x="132301" y="72127"/>
                  </a:cubicBezTo>
                  <a:cubicBezTo>
                    <a:pt x="132301" y="72127"/>
                    <a:pt x="138380" y="75457"/>
                    <a:pt x="138380" y="75457"/>
                  </a:cubicBezTo>
                  <a:cubicBezTo>
                    <a:pt x="131201" y="93950"/>
                    <a:pt x="116016" y="114676"/>
                    <a:pt x="94725" y="114676"/>
                  </a:cubicBezTo>
                  <a:cubicBezTo>
                    <a:pt x="78161" y="114676"/>
                    <a:pt x="73749" y="104185"/>
                    <a:pt x="74027" y="88156"/>
                  </a:cubicBezTo>
                </a:path>
              </a:pathLst>
            </a:custGeom>
            <a:solidFill>
              <a:srgbClr val="161413"/>
            </a:solidFill>
            <a:ln w="3143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912EA15-B01C-0D9A-B1AC-9E4D8E71A1D9}"/>
                </a:ext>
              </a:extLst>
            </p:cNvPr>
            <p:cNvSpPr/>
            <p:nvPr/>
          </p:nvSpPr>
          <p:spPr>
            <a:xfrm>
              <a:off x="11710898" y="111909"/>
              <a:ext cx="99163" cy="156002"/>
            </a:xfrm>
            <a:custGeom>
              <a:avLst/>
              <a:gdLst>
                <a:gd name="csX0" fmla="*/ 55 w 43472"/>
                <a:gd name="csY0" fmla="*/ 72867 h 73576"/>
                <a:gd name="csX1" fmla="*/ 9913 w 43472"/>
                <a:gd name="csY1" fmla="*/ 29 h 73576"/>
                <a:gd name="csX2" fmla="*/ 19096 w 43472"/>
                <a:gd name="csY2" fmla="*/ 29 h 73576"/>
                <a:gd name="csX3" fmla="*/ 15082 w 43472"/>
                <a:gd name="csY3" fmla="*/ 28253 h 73576"/>
                <a:gd name="csX4" fmla="*/ 15280 w 43472"/>
                <a:gd name="csY4" fmla="*/ 28450 h 73576"/>
                <a:gd name="csX5" fmla="*/ 26820 w 43472"/>
                <a:gd name="csY5" fmla="*/ 23179 h 73576"/>
                <a:gd name="csX6" fmla="*/ 43528 w 43472"/>
                <a:gd name="csY6" fmla="*/ 44841 h 73576"/>
                <a:gd name="csX7" fmla="*/ 12637 w 43472"/>
                <a:gd name="csY7" fmla="*/ 73606 h 73576"/>
                <a:gd name="csX8" fmla="*/ 55 w 43472"/>
                <a:gd name="csY8" fmla="*/ 72867 h 73576"/>
                <a:gd name="csX9" fmla="*/ 13920 w 43472"/>
                <a:gd name="csY9" fmla="*/ 37022 h 73576"/>
                <a:gd name="csX10" fmla="*/ 9789 w 43472"/>
                <a:gd name="csY10" fmla="*/ 66203 h 73576"/>
                <a:gd name="csX11" fmla="*/ 14764 w 43472"/>
                <a:gd name="csY11" fmla="*/ 66203 h 73576"/>
                <a:gd name="csX12" fmla="*/ 34317 w 43472"/>
                <a:gd name="csY12" fmla="*/ 44643 h 73576"/>
                <a:gd name="csX13" fmla="*/ 24074 w 43472"/>
                <a:gd name="csY13" fmla="*/ 31001 h 73576"/>
                <a:gd name="csX14" fmla="*/ 13920 w 43472"/>
                <a:gd name="csY14" fmla="*/ 37022 h 735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3472" h="73576">
                  <a:moveTo>
                    <a:pt x="55" y="72867"/>
                  </a:moveTo>
                  <a:cubicBezTo>
                    <a:pt x="55" y="72867"/>
                    <a:pt x="9913" y="29"/>
                    <a:pt x="9913" y="29"/>
                  </a:cubicBezTo>
                  <a:cubicBezTo>
                    <a:pt x="9913" y="29"/>
                    <a:pt x="19096" y="29"/>
                    <a:pt x="19096" y="29"/>
                  </a:cubicBezTo>
                  <a:cubicBezTo>
                    <a:pt x="19096" y="29"/>
                    <a:pt x="15082" y="28253"/>
                    <a:pt x="15082" y="28253"/>
                  </a:cubicBezTo>
                  <a:cubicBezTo>
                    <a:pt x="15082" y="28253"/>
                    <a:pt x="15280" y="28450"/>
                    <a:pt x="15280" y="28450"/>
                  </a:cubicBezTo>
                  <a:cubicBezTo>
                    <a:pt x="19195" y="24542"/>
                    <a:pt x="22364" y="23179"/>
                    <a:pt x="26820" y="23179"/>
                  </a:cubicBezTo>
                  <a:cubicBezTo>
                    <a:pt x="36745" y="23179"/>
                    <a:pt x="43528" y="32062"/>
                    <a:pt x="43528" y="44841"/>
                  </a:cubicBezTo>
                  <a:cubicBezTo>
                    <a:pt x="43528" y="57540"/>
                    <a:pt x="36547" y="73606"/>
                    <a:pt x="12637" y="73606"/>
                  </a:cubicBezTo>
                  <a:cubicBezTo>
                    <a:pt x="8104" y="73606"/>
                    <a:pt x="2811" y="73287"/>
                    <a:pt x="55" y="72867"/>
                  </a:cubicBezTo>
                  <a:close/>
                  <a:moveTo>
                    <a:pt x="13920" y="37022"/>
                  </a:moveTo>
                  <a:cubicBezTo>
                    <a:pt x="13920" y="37022"/>
                    <a:pt x="9789" y="66203"/>
                    <a:pt x="9789" y="66203"/>
                  </a:cubicBezTo>
                  <a:cubicBezTo>
                    <a:pt x="9789" y="66203"/>
                    <a:pt x="14764" y="66203"/>
                    <a:pt x="14764" y="66203"/>
                  </a:cubicBezTo>
                  <a:cubicBezTo>
                    <a:pt x="27243" y="66203"/>
                    <a:pt x="34317" y="57441"/>
                    <a:pt x="34317" y="44643"/>
                  </a:cubicBezTo>
                  <a:cubicBezTo>
                    <a:pt x="34317" y="35973"/>
                    <a:pt x="30412" y="31001"/>
                    <a:pt x="24074" y="31001"/>
                  </a:cubicBezTo>
                  <a:cubicBezTo>
                    <a:pt x="21102" y="31001"/>
                    <a:pt x="14541" y="33008"/>
                    <a:pt x="13920" y="37022"/>
                  </a:cubicBezTo>
                </a:path>
              </a:pathLst>
            </a:custGeom>
            <a:solidFill>
              <a:srgbClr val="161413"/>
            </a:solidFill>
            <a:ln w="3143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588B09C-9719-37F2-BC57-096D02D2EDB5}"/>
              </a:ext>
            </a:extLst>
          </p:cNvPr>
          <p:cNvSpPr/>
          <p:nvPr/>
        </p:nvSpPr>
        <p:spPr>
          <a:xfrm>
            <a:off x="10508484" y="787817"/>
            <a:ext cx="1307392" cy="6713"/>
          </a:xfrm>
          <a:custGeom>
            <a:avLst/>
            <a:gdLst>
              <a:gd name="csX0" fmla="*/ 9 w 573144"/>
              <a:gd name="csY0" fmla="*/ 126 h 3166"/>
              <a:gd name="csX1" fmla="*/ 573154 w 573144"/>
              <a:gd name="csY1" fmla="*/ 126 h 316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3144" h="3166">
                <a:moveTo>
                  <a:pt x="9" y="126"/>
                </a:moveTo>
                <a:cubicBezTo>
                  <a:pt x="9" y="126"/>
                  <a:pt x="573154" y="126"/>
                  <a:pt x="573154" y="126"/>
                </a:cubicBezTo>
              </a:path>
            </a:pathLst>
          </a:custGeom>
          <a:noFill/>
          <a:ln w="5656" cap="flat">
            <a:noFill/>
            <a:prstDash val="solid"/>
            <a:miter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767B16-4064-8C52-5A8E-35E82D12F00C}"/>
              </a:ext>
            </a:extLst>
          </p:cNvPr>
          <p:cNvSpPr txBox="1"/>
          <p:nvPr/>
        </p:nvSpPr>
        <p:spPr>
          <a:xfrm>
            <a:off x="2800350" y="2079718"/>
            <a:ext cx="5270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/>
              <a:t>=</a:t>
            </a:r>
            <a:endParaRPr lang="de-DE" dirty="0"/>
          </a:p>
        </p:txBody>
      </p:sp>
      <p:pic>
        <p:nvPicPr>
          <p:cNvPr id="55" name="Picture 54" descr="DRG.&#10;&#10;AI-generated content may be incorrect.">
            <a:extLst>
              <a:ext uri="{FF2B5EF4-FFF2-40B4-BE49-F238E27FC236}">
                <a16:creationId xmlns:a16="http://schemas.microsoft.com/office/drawing/2014/main" id="{581783EA-61A2-4216-C00C-3F427EE8E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450" y="1881790"/>
            <a:ext cx="1422127" cy="113446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E52FEEC3-7E1E-914B-5B4F-471DCCDCBB4B}"/>
              </a:ext>
            </a:extLst>
          </p:cNvPr>
          <p:cNvSpPr txBox="1"/>
          <p:nvPr/>
        </p:nvSpPr>
        <p:spPr>
          <a:xfrm>
            <a:off x="3327400" y="2202828"/>
            <a:ext cx="7181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Leistungsabrechnung für schweizer Spitäle</a:t>
            </a:r>
          </a:p>
        </p:txBody>
      </p:sp>
      <p:pic>
        <p:nvPicPr>
          <p:cNvPr id="58" name="Picture 57" descr="A black silhouette figure is pondering over a dollar sign and gears, symbolizing a thought about money or business.&#10;&#10;AI-generated content may be incorrect.">
            <a:extLst>
              <a:ext uri="{FF2B5EF4-FFF2-40B4-BE49-F238E27FC236}">
                <a16:creationId xmlns:a16="http://schemas.microsoft.com/office/drawing/2014/main" id="{A8F8F255-D002-6ED7-079D-673281B64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450" y="3671010"/>
            <a:ext cx="1447018" cy="1451243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CB4FB0C7-A6DD-4E77-C7D0-8B8D2EE7C274}"/>
              </a:ext>
            </a:extLst>
          </p:cNvPr>
          <p:cNvSpPr txBox="1"/>
          <p:nvPr/>
        </p:nvSpPr>
        <p:spPr>
          <a:xfrm>
            <a:off x="2811502" y="4227104"/>
            <a:ext cx="5270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/>
              <a:t>=</a:t>
            </a:r>
            <a:endParaRPr lang="de-DE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826768-A5A7-4C64-A0D2-71F451968DB4}"/>
              </a:ext>
            </a:extLst>
          </p:cNvPr>
          <p:cNvSpPr txBox="1"/>
          <p:nvPr/>
        </p:nvSpPr>
        <p:spPr>
          <a:xfrm>
            <a:off x="3338552" y="4303836"/>
            <a:ext cx="82120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Internes Tool um Patienten aus CSV File zu suchen/anzuzeigen</a:t>
            </a:r>
          </a:p>
        </p:txBody>
      </p:sp>
    </p:spTree>
    <p:extLst>
      <p:ext uri="{BB962C8B-B14F-4D97-AF65-F5344CB8AC3E}">
        <p14:creationId xmlns:p14="http://schemas.microsoft.com/office/powerpoint/2010/main" val="257238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6" grpId="0"/>
      <p:bldP spid="59" grpId="0"/>
      <p:bldP spid="6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21755-B852-5DF1-AB95-71977C326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2B2F2-35EA-F240-C7E7-E1697C355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39750" y="639248"/>
            <a:ext cx="5810250" cy="1233124"/>
          </a:xfrm>
        </p:spPr>
        <p:txBody>
          <a:bodyPr>
            <a:normAutofit/>
          </a:bodyPr>
          <a:lstStyle/>
          <a:p>
            <a:r>
              <a:rPr lang="de-DE" sz="4800" dirty="0"/>
              <a:t>Erste Iteration: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AC79AA-70AB-B541-06C8-2A57B082A1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4484" y="4277904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de-DE" dirty="0"/>
              <a:t>Birk: Front-End</a:t>
            </a:r>
          </a:p>
          <a:p>
            <a:pPr algn="l"/>
            <a:r>
              <a:rPr lang="de-DE" dirty="0"/>
              <a:t>Carlo: Docker</a:t>
            </a:r>
          </a:p>
          <a:p>
            <a:pPr algn="l"/>
            <a:r>
              <a:rPr lang="de-DE" dirty="0"/>
              <a:t>Elia: Back-End</a:t>
            </a:r>
          </a:p>
          <a:p>
            <a:pPr algn="l"/>
            <a:r>
              <a:rPr lang="de-DE" dirty="0"/>
              <a:t>Tom: Back-End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50E9495-7B74-8687-7F62-353D0EA4A060}"/>
              </a:ext>
            </a:extLst>
          </p:cNvPr>
          <p:cNvGrpSpPr/>
          <p:nvPr/>
        </p:nvGrpSpPr>
        <p:grpSpPr>
          <a:xfrm>
            <a:off x="0" y="0"/>
            <a:ext cx="12249509" cy="720822"/>
            <a:chOff x="0" y="0"/>
            <a:chExt cx="12249509" cy="720822"/>
          </a:xfrm>
        </p:grpSpPr>
        <p:pic>
          <p:nvPicPr>
            <p:cNvPr id="5" name="Picture 4" descr="SWIss DRG&#10;&#10;AI-generated content may be incorrect.">
              <a:extLst>
                <a:ext uri="{FF2B5EF4-FFF2-40B4-BE49-F238E27FC236}">
                  <a16:creationId xmlns:a16="http://schemas.microsoft.com/office/drawing/2014/main" id="{957B0F03-94AA-B88E-4FAA-D138E9A1E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3657600" cy="72082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65BA987-71AF-B997-52B9-42DB813ECA42}"/>
                </a:ext>
              </a:extLst>
            </p:cNvPr>
            <p:cNvSpPr/>
            <p:nvPr/>
          </p:nvSpPr>
          <p:spPr>
            <a:xfrm>
              <a:off x="3657600" y="0"/>
              <a:ext cx="8591909" cy="720822"/>
            </a:xfrm>
            <a:prstGeom prst="rect">
              <a:avLst/>
            </a:prstGeom>
            <a:solidFill>
              <a:srgbClr val="23B7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AED6628-0189-410A-A062-4C483C46AD2E}"/>
                </a:ext>
              </a:extLst>
            </p:cNvPr>
            <p:cNvSpPr/>
            <p:nvPr/>
          </p:nvSpPr>
          <p:spPr>
            <a:xfrm>
              <a:off x="11375366" y="276125"/>
              <a:ext cx="315636" cy="243028"/>
            </a:xfrm>
            <a:custGeom>
              <a:avLst/>
              <a:gdLst>
                <a:gd name="csX0" fmla="*/ 74027 w 138371"/>
                <a:gd name="csY0" fmla="*/ 88156 h 114621"/>
                <a:gd name="csX1" fmla="*/ 28733 w 138371"/>
                <a:gd name="csY1" fmla="*/ 114676 h 114621"/>
                <a:gd name="csX2" fmla="*/ 4143 w 138371"/>
                <a:gd name="csY2" fmla="*/ 94776 h 114621"/>
                <a:gd name="csX3" fmla="*/ 7733 w 138371"/>
                <a:gd name="csY3" fmla="*/ 73231 h 114621"/>
                <a:gd name="csX4" fmla="*/ 21814 w 138371"/>
                <a:gd name="csY4" fmla="*/ 8056 h 114621"/>
                <a:gd name="csX5" fmla="*/ 9 w 138371"/>
                <a:gd name="csY5" fmla="*/ 8056 h 114621"/>
                <a:gd name="csX6" fmla="*/ 1935 w 138371"/>
                <a:gd name="csY6" fmla="*/ 1161 h 114621"/>
                <a:gd name="csX7" fmla="*/ 27351 w 138371"/>
                <a:gd name="csY7" fmla="*/ 1161 h 114621"/>
                <a:gd name="csX8" fmla="*/ 52745 w 138371"/>
                <a:gd name="csY8" fmla="*/ 54 h 114621"/>
                <a:gd name="csX9" fmla="*/ 35916 w 138371"/>
                <a:gd name="csY9" fmla="*/ 71586 h 114621"/>
                <a:gd name="csX10" fmla="*/ 31763 w 138371"/>
                <a:gd name="csY10" fmla="*/ 94513 h 114621"/>
                <a:gd name="csX11" fmla="*/ 43636 w 138371"/>
                <a:gd name="csY11" fmla="*/ 103341 h 114621"/>
                <a:gd name="csX12" fmla="*/ 58002 w 138371"/>
                <a:gd name="csY12" fmla="*/ 97262 h 114621"/>
                <a:gd name="csX13" fmla="*/ 79543 w 138371"/>
                <a:gd name="csY13" fmla="*/ 60251 h 114621"/>
                <a:gd name="csX14" fmla="*/ 93630 w 138371"/>
                <a:gd name="csY14" fmla="*/ 1161 h 114621"/>
                <a:gd name="csX15" fmla="*/ 122352 w 138371"/>
                <a:gd name="csY15" fmla="*/ 1161 h 114621"/>
                <a:gd name="csX16" fmla="*/ 103856 w 138371"/>
                <a:gd name="csY16" fmla="*/ 82074 h 114621"/>
                <a:gd name="csX17" fmla="*/ 101088 w 138371"/>
                <a:gd name="csY17" fmla="*/ 98644 h 114621"/>
                <a:gd name="csX18" fmla="*/ 106601 w 138371"/>
                <a:gd name="csY18" fmla="*/ 103078 h 114621"/>
                <a:gd name="csX19" fmla="*/ 132301 w 138371"/>
                <a:gd name="csY19" fmla="*/ 72127 h 114621"/>
                <a:gd name="csX20" fmla="*/ 138380 w 138371"/>
                <a:gd name="csY20" fmla="*/ 75457 h 114621"/>
                <a:gd name="csX21" fmla="*/ 94725 w 138371"/>
                <a:gd name="csY21" fmla="*/ 114676 h 114621"/>
                <a:gd name="csX22" fmla="*/ 74027 w 138371"/>
                <a:gd name="csY22" fmla="*/ 88156 h 114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38371" h="114621">
                  <a:moveTo>
                    <a:pt x="74027" y="88156"/>
                  </a:moveTo>
                  <a:cubicBezTo>
                    <a:pt x="62154" y="103078"/>
                    <a:pt x="48055" y="114676"/>
                    <a:pt x="28733" y="114676"/>
                  </a:cubicBezTo>
                  <a:cubicBezTo>
                    <a:pt x="15738" y="114676"/>
                    <a:pt x="4143" y="110260"/>
                    <a:pt x="4143" y="94776"/>
                  </a:cubicBezTo>
                  <a:cubicBezTo>
                    <a:pt x="4143" y="90920"/>
                    <a:pt x="5806" y="82074"/>
                    <a:pt x="7733" y="73231"/>
                  </a:cubicBezTo>
                  <a:cubicBezTo>
                    <a:pt x="7733" y="73231"/>
                    <a:pt x="21814" y="8056"/>
                    <a:pt x="21814" y="8056"/>
                  </a:cubicBezTo>
                  <a:cubicBezTo>
                    <a:pt x="21814" y="8056"/>
                    <a:pt x="9" y="8056"/>
                    <a:pt x="9" y="8056"/>
                  </a:cubicBezTo>
                  <a:cubicBezTo>
                    <a:pt x="9" y="8056"/>
                    <a:pt x="1935" y="1161"/>
                    <a:pt x="1935" y="1161"/>
                  </a:cubicBezTo>
                  <a:cubicBezTo>
                    <a:pt x="1935" y="1161"/>
                    <a:pt x="27351" y="1161"/>
                    <a:pt x="27351" y="1161"/>
                  </a:cubicBezTo>
                  <a:cubicBezTo>
                    <a:pt x="35916" y="1161"/>
                    <a:pt x="44199" y="54"/>
                    <a:pt x="52745" y="54"/>
                  </a:cubicBezTo>
                  <a:cubicBezTo>
                    <a:pt x="52745" y="54"/>
                    <a:pt x="35916" y="71586"/>
                    <a:pt x="35916" y="71586"/>
                  </a:cubicBezTo>
                  <a:cubicBezTo>
                    <a:pt x="33690" y="81533"/>
                    <a:pt x="31763" y="90920"/>
                    <a:pt x="31763" y="94513"/>
                  </a:cubicBezTo>
                  <a:cubicBezTo>
                    <a:pt x="31763" y="101692"/>
                    <a:pt x="38124" y="103341"/>
                    <a:pt x="43636" y="103341"/>
                  </a:cubicBezTo>
                  <a:cubicBezTo>
                    <a:pt x="48333" y="103341"/>
                    <a:pt x="54134" y="99751"/>
                    <a:pt x="58002" y="97262"/>
                  </a:cubicBezTo>
                  <a:cubicBezTo>
                    <a:pt x="70438" y="89253"/>
                    <a:pt x="76232" y="74072"/>
                    <a:pt x="79543" y="60251"/>
                  </a:cubicBezTo>
                  <a:cubicBezTo>
                    <a:pt x="79543" y="60251"/>
                    <a:pt x="93630" y="1161"/>
                    <a:pt x="93630" y="1161"/>
                  </a:cubicBezTo>
                  <a:cubicBezTo>
                    <a:pt x="93630" y="1161"/>
                    <a:pt x="122352" y="1161"/>
                    <a:pt x="122352" y="1161"/>
                  </a:cubicBezTo>
                  <a:cubicBezTo>
                    <a:pt x="122352" y="1161"/>
                    <a:pt x="103856" y="82074"/>
                    <a:pt x="103856" y="82074"/>
                  </a:cubicBezTo>
                  <a:cubicBezTo>
                    <a:pt x="101914" y="90360"/>
                    <a:pt x="100807" y="96718"/>
                    <a:pt x="101088" y="98644"/>
                  </a:cubicBezTo>
                  <a:cubicBezTo>
                    <a:pt x="101373" y="101414"/>
                    <a:pt x="104140" y="103078"/>
                    <a:pt x="106601" y="103078"/>
                  </a:cubicBezTo>
                  <a:cubicBezTo>
                    <a:pt x="116557" y="103078"/>
                    <a:pt x="128709" y="80148"/>
                    <a:pt x="132301" y="72127"/>
                  </a:cubicBezTo>
                  <a:cubicBezTo>
                    <a:pt x="132301" y="72127"/>
                    <a:pt x="138380" y="75457"/>
                    <a:pt x="138380" y="75457"/>
                  </a:cubicBezTo>
                  <a:cubicBezTo>
                    <a:pt x="131201" y="93950"/>
                    <a:pt x="116016" y="114676"/>
                    <a:pt x="94725" y="114676"/>
                  </a:cubicBezTo>
                  <a:cubicBezTo>
                    <a:pt x="78161" y="114676"/>
                    <a:pt x="73749" y="104185"/>
                    <a:pt x="74027" y="88156"/>
                  </a:cubicBezTo>
                </a:path>
              </a:pathLst>
            </a:custGeom>
            <a:solidFill>
              <a:srgbClr val="161413"/>
            </a:solidFill>
            <a:ln w="3143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E76EAD4-EC5F-829D-2289-35D51EA1F26D}"/>
                </a:ext>
              </a:extLst>
            </p:cNvPr>
            <p:cNvSpPr/>
            <p:nvPr/>
          </p:nvSpPr>
          <p:spPr>
            <a:xfrm>
              <a:off x="11710898" y="111909"/>
              <a:ext cx="99163" cy="156002"/>
            </a:xfrm>
            <a:custGeom>
              <a:avLst/>
              <a:gdLst>
                <a:gd name="csX0" fmla="*/ 55 w 43472"/>
                <a:gd name="csY0" fmla="*/ 72867 h 73576"/>
                <a:gd name="csX1" fmla="*/ 9913 w 43472"/>
                <a:gd name="csY1" fmla="*/ 29 h 73576"/>
                <a:gd name="csX2" fmla="*/ 19096 w 43472"/>
                <a:gd name="csY2" fmla="*/ 29 h 73576"/>
                <a:gd name="csX3" fmla="*/ 15082 w 43472"/>
                <a:gd name="csY3" fmla="*/ 28253 h 73576"/>
                <a:gd name="csX4" fmla="*/ 15280 w 43472"/>
                <a:gd name="csY4" fmla="*/ 28450 h 73576"/>
                <a:gd name="csX5" fmla="*/ 26820 w 43472"/>
                <a:gd name="csY5" fmla="*/ 23179 h 73576"/>
                <a:gd name="csX6" fmla="*/ 43528 w 43472"/>
                <a:gd name="csY6" fmla="*/ 44841 h 73576"/>
                <a:gd name="csX7" fmla="*/ 12637 w 43472"/>
                <a:gd name="csY7" fmla="*/ 73606 h 73576"/>
                <a:gd name="csX8" fmla="*/ 55 w 43472"/>
                <a:gd name="csY8" fmla="*/ 72867 h 73576"/>
                <a:gd name="csX9" fmla="*/ 13920 w 43472"/>
                <a:gd name="csY9" fmla="*/ 37022 h 73576"/>
                <a:gd name="csX10" fmla="*/ 9789 w 43472"/>
                <a:gd name="csY10" fmla="*/ 66203 h 73576"/>
                <a:gd name="csX11" fmla="*/ 14764 w 43472"/>
                <a:gd name="csY11" fmla="*/ 66203 h 73576"/>
                <a:gd name="csX12" fmla="*/ 34317 w 43472"/>
                <a:gd name="csY12" fmla="*/ 44643 h 73576"/>
                <a:gd name="csX13" fmla="*/ 24074 w 43472"/>
                <a:gd name="csY13" fmla="*/ 31001 h 73576"/>
                <a:gd name="csX14" fmla="*/ 13920 w 43472"/>
                <a:gd name="csY14" fmla="*/ 37022 h 735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3472" h="73576">
                  <a:moveTo>
                    <a:pt x="55" y="72867"/>
                  </a:moveTo>
                  <a:cubicBezTo>
                    <a:pt x="55" y="72867"/>
                    <a:pt x="9913" y="29"/>
                    <a:pt x="9913" y="29"/>
                  </a:cubicBezTo>
                  <a:cubicBezTo>
                    <a:pt x="9913" y="29"/>
                    <a:pt x="19096" y="29"/>
                    <a:pt x="19096" y="29"/>
                  </a:cubicBezTo>
                  <a:cubicBezTo>
                    <a:pt x="19096" y="29"/>
                    <a:pt x="15082" y="28253"/>
                    <a:pt x="15082" y="28253"/>
                  </a:cubicBezTo>
                  <a:cubicBezTo>
                    <a:pt x="15082" y="28253"/>
                    <a:pt x="15280" y="28450"/>
                    <a:pt x="15280" y="28450"/>
                  </a:cubicBezTo>
                  <a:cubicBezTo>
                    <a:pt x="19195" y="24542"/>
                    <a:pt x="22364" y="23179"/>
                    <a:pt x="26820" y="23179"/>
                  </a:cubicBezTo>
                  <a:cubicBezTo>
                    <a:pt x="36745" y="23179"/>
                    <a:pt x="43528" y="32062"/>
                    <a:pt x="43528" y="44841"/>
                  </a:cubicBezTo>
                  <a:cubicBezTo>
                    <a:pt x="43528" y="57540"/>
                    <a:pt x="36547" y="73606"/>
                    <a:pt x="12637" y="73606"/>
                  </a:cubicBezTo>
                  <a:cubicBezTo>
                    <a:pt x="8104" y="73606"/>
                    <a:pt x="2811" y="73287"/>
                    <a:pt x="55" y="72867"/>
                  </a:cubicBezTo>
                  <a:close/>
                  <a:moveTo>
                    <a:pt x="13920" y="37022"/>
                  </a:moveTo>
                  <a:cubicBezTo>
                    <a:pt x="13920" y="37022"/>
                    <a:pt x="9789" y="66203"/>
                    <a:pt x="9789" y="66203"/>
                  </a:cubicBezTo>
                  <a:cubicBezTo>
                    <a:pt x="9789" y="66203"/>
                    <a:pt x="14764" y="66203"/>
                    <a:pt x="14764" y="66203"/>
                  </a:cubicBezTo>
                  <a:cubicBezTo>
                    <a:pt x="27243" y="66203"/>
                    <a:pt x="34317" y="57441"/>
                    <a:pt x="34317" y="44643"/>
                  </a:cubicBezTo>
                  <a:cubicBezTo>
                    <a:pt x="34317" y="35973"/>
                    <a:pt x="30412" y="31001"/>
                    <a:pt x="24074" y="31001"/>
                  </a:cubicBezTo>
                  <a:cubicBezTo>
                    <a:pt x="21102" y="31001"/>
                    <a:pt x="14541" y="33008"/>
                    <a:pt x="13920" y="37022"/>
                  </a:cubicBezTo>
                </a:path>
              </a:pathLst>
            </a:custGeom>
            <a:solidFill>
              <a:srgbClr val="161413"/>
            </a:solidFill>
            <a:ln w="3143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98AB43F-282A-8930-2AB3-B297759BBCB0}"/>
              </a:ext>
            </a:extLst>
          </p:cNvPr>
          <p:cNvSpPr/>
          <p:nvPr/>
        </p:nvSpPr>
        <p:spPr>
          <a:xfrm>
            <a:off x="10508484" y="787817"/>
            <a:ext cx="1307392" cy="6713"/>
          </a:xfrm>
          <a:custGeom>
            <a:avLst/>
            <a:gdLst>
              <a:gd name="csX0" fmla="*/ 9 w 573144"/>
              <a:gd name="csY0" fmla="*/ 126 h 3166"/>
              <a:gd name="csX1" fmla="*/ 573154 w 573144"/>
              <a:gd name="csY1" fmla="*/ 126 h 316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3144" h="3166">
                <a:moveTo>
                  <a:pt x="9" y="126"/>
                </a:moveTo>
                <a:cubicBezTo>
                  <a:pt x="9" y="126"/>
                  <a:pt x="573154" y="126"/>
                  <a:pt x="573154" y="126"/>
                </a:cubicBezTo>
              </a:path>
            </a:pathLst>
          </a:custGeom>
          <a:noFill/>
          <a:ln w="5656" cap="flat">
            <a:noFill/>
            <a:prstDash val="solid"/>
            <a:miter/>
          </a:ln>
        </p:spPr>
        <p:txBody>
          <a:bodyPr/>
          <a:lstStyle/>
          <a:p>
            <a:endParaRPr lang="de-DE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5B3544-1E30-EC3A-8D09-4D04B431E3A9}"/>
              </a:ext>
            </a:extLst>
          </p:cNvPr>
          <p:cNvSpPr txBox="1"/>
          <p:nvPr/>
        </p:nvSpPr>
        <p:spPr>
          <a:xfrm>
            <a:off x="1231900" y="2202828"/>
            <a:ext cx="9276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Einarbeitung und CSV Daten handhaben/anzeigen.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502C87-B392-B888-00B6-D8B50FC78373}"/>
              </a:ext>
            </a:extLst>
          </p:cNvPr>
          <p:cNvSpPr txBox="1">
            <a:spLocks/>
          </p:cNvSpPr>
          <p:nvPr/>
        </p:nvSpPr>
        <p:spPr>
          <a:xfrm>
            <a:off x="-349250" y="3155949"/>
            <a:ext cx="3619500" cy="8493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800" dirty="0"/>
              <a:t>Rollen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1F3690-BC67-4764-9680-012069C2E90D}"/>
              </a:ext>
            </a:extLst>
          </p:cNvPr>
          <p:cNvSpPr/>
          <p:nvPr/>
        </p:nvSpPr>
        <p:spPr>
          <a:xfrm>
            <a:off x="-539750" y="720822"/>
            <a:ext cx="13316755" cy="6671256"/>
          </a:xfrm>
          <a:prstGeom prst="rect">
            <a:avLst/>
          </a:prstGeom>
          <a:solidFill>
            <a:srgbClr val="000000">
              <a:alpha val="8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Picture 7" descr="The image displays a user interface for the SwissDRG Data Search, showing a list of hospitalization records with fields for hospital ID, patient ID, admission date, discharge date, and admission type.&#10;&#10;AI-generated content may be incorrect.">
            <a:extLst>
              <a:ext uri="{FF2B5EF4-FFF2-40B4-BE49-F238E27FC236}">
                <a16:creationId xmlns:a16="http://schemas.microsoft.com/office/drawing/2014/main" id="{351246A8-CC07-37DB-FD44-53C25065B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2558" y="720822"/>
            <a:ext cx="4375383" cy="608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8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6" grpId="0"/>
      <p:bldP spid="4" grpId="0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CE1AC-A15A-9364-11C6-2C62BBF74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83026BE-BD2F-10DE-47C1-BF79F2465CD5}"/>
              </a:ext>
            </a:extLst>
          </p:cNvPr>
          <p:cNvSpPr/>
          <p:nvPr/>
        </p:nvSpPr>
        <p:spPr>
          <a:xfrm>
            <a:off x="-158750" y="-177800"/>
            <a:ext cx="12408259" cy="1419193"/>
          </a:xfrm>
          <a:prstGeom prst="rect">
            <a:avLst/>
          </a:prstGeom>
          <a:solidFill>
            <a:srgbClr val="23B7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Picture 4" descr="SWIss DRG&#10;&#10;AI-generated content may be incorrect.">
            <a:extLst>
              <a:ext uri="{FF2B5EF4-FFF2-40B4-BE49-F238E27FC236}">
                <a16:creationId xmlns:a16="http://schemas.microsoft.com/office/drawing/2014/main" id="{68F5D079-63E9-C8EB-F5E5-A09EEA7E5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0571"/>
            <a:ext cx="3657600" cy="720822"/>
          </a:xfrm>
          <a:prstGeom prst="rect">
            <a:avLst/>
          </a:pr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DE5F1BA-C3AF-E111-9A53-66DFD1714113}"/>
              </a:ext>
            </a:extLst>
          </p:cNvPr>
          <p:cNvSpPr/>
          <p:nvPr/>
        </p:nvSpPr>
        <p:spPr>
          <a:xfrm>
            <a:off x="11375366" y="796696"/>
            <a:ext cx="315636" cy="243028"/>
          </a:xfrm>
          <a:custGeom>
            <a:avLst/>
            <a:gdLst>
              <a:gd name="csX0" fmla="*/ 74027 w 138371"/>
              <a:gd name="csY0" fmla="*/ 88156 h 114621"/>
              <a:gd name="csX1" fmla="*/ 28733 w 138371"/>
              <a:gd name="csY1" fmla="*/ 114676 h 114621"/>
              <a:gd name="csX2" fmla="*/ 4143 w 138371"/>
              <a:gd name="csY2" fmla="*/ 94776 h 114621"/>
              <a:gd name="csX3" fmla="*/ 7733 w 138371"/>
              <a:gd name="csY3" fmla="*/ 73231 h 114621"/>
              <a:gd name="csX4" fmla="*/ 21814 w 138371"/>
              <a:gd name="csY4" fmla="*/ 8056 h 114621"/>
              <a:gd name="csX5" fmla="*/ 9 w 138371"/>
              <a:gd name="csY5" fmla="*/ 8056 h 114621"/>
              <a:gd name="csX6" fmla="*/ 1935 w 138371"/>
              <a:gd name="csY6" fmla="*/ 1161 h 114621"/>
              <a:gd name="csX7" fmla="*/ 27351 w 138371"/>
              <a:gd name="csY7" fmla="*/ 1161 h 114621"/>
              <a:gd name="csX8" fmla="*/ 52745 w 138371"/>
              <a:gd name="csY8" fmla="*/ 54 h 114621"/>
              <a:gd name="csX9" fmla="*/ 35916 w 138371"/>
              <a:gd name="csY9" fmla="*/ 71586 h 114621"/>
              <a:gd name="csX10" fmla="*/ 31763 w 138371"/>
              <a:gd name="csY10" fmla="*/ 94513 h 114621"/>
              <a:gd name="csX11" fmla="*/ 43636 w 138371"/>
              <a:gd name="csY11" fmla="*/ 103341 h 114621"/>
              <a:gd name="csX12" fmla="*/ 58002 w 138371"/>
              <a:gd name="csY12" fmla="*/ 97262 h 114621"/>
              <a:gd name="csX13" fmla="*/ 79543 w 138371"/>
              <a:gd name="csY13" fmla="*/ 60251 h 114621"/>
              <a:gd name="csX14" fmla="*/ 93630 w 138371"/>
              <a:gd name="csY14" fmla="*/ 1161 h 114621"/>
              <a:gd name="csX15" fmla="*/ 122352 w 138371"/>
              <a:gd name="csY15" fmla="*/ 1161 h 114621"/>
              <a:gd name="csX16" fmla="*/ 103856 w 138371"/>
              <a:gd name="csY16" fmla="*/ 82074 h 114621"/>
              <a:gd name="csX17" fmla="*/ 101088 w 138371"/>
              <a:gd name="csY17" fmla="*/ 98644 h 114621"/>
              <a:gd name="csX18" fmla="*/ 106601 w 138371"/>
              <a:gd name="csY18" fmla="*/ 103078 h 114621"/>
              <a:gd name="csX19" fmla="*/ 132301 w 138371"/>
              <a:gd name="csY19" fmla="*/ 72127 h 114621"/>
              <a:gd name="csX20" fmla="*/ 138380 w 138371"/>
              <a:gd name="csY20" fmla="*/ 75457 h 114621"/>
              <a:gd name="csX21" fmla="*/ 94725 w 138371"/>
              <a:gd name="csY21" fmla="*/ 114676 h 114621"/>
              <a:gd name="csX22" fmla="*/ 74027 w 138371"/>
              <a:gd name="csY22" fmla="*/ 88156 h 1146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38371" h="114621">
                <a:moveTo>
                  <a:pt x="74027" y="88156"/>
                </a:moveTo>
                <a:cubicBezTo>
                  <a:pt x="62154" y="103078"/>
                  <a:pt x="48055" y="114676"/>
                  <a:pt x="28733" y="114676"/>
                </a:cubicBezTo>
                <a:cubicBezTo>
                  <a:pt x="15738" y="114676"/>
                  <a:pt x="4143" y="110260"/>
                  <a:pt x="4143" y="94776"/>
                </a:cubicBezTo>
                <a:cubicBezTo>
                  <a:pt x="4143" y="90920"/>
                  <a:pt x="5806" y="82074"/>
                  <a:pt x="7733" y="73231"/>
                </a:cubicBezTo>
                <a:cubicBezTo>
                  <a:pt x="7733" y="73231"/>
                  <a:pt x="21814" y="8056"/>
                  <a:pt x="21814" y="8056"/>
                </a:cubicBezTo>
                <a:cubicBezTo>
                  <a:pt x="21814" y="8056"/>
                  <a:pt x="9" y="8056"/>
                  <a:pt x="9" y="8056"/>
                </a:cubicBezTo>
                <a:cubicBezTo>
                  <a:pt x="9" y="8056"/>
                  <a:pt x="1935" y="1161"/>
                  <a:pt x="1935" y="1161"/>
                </a:cubicBezTo>
                <a:cubicBezTo>
                  <a:pt x="1935" y="1161"/>
                  <a:pt x="27351" y="1161"/>
                  <a:pt x="27351" y="1161"/>
                </a:cubicBezTo>
                <a:cubicBezTo>
                  <a:pt x="35916" y="1161"/>
                  <a:pt x="44199" y="54"/>
                  <a:pt x="52745" y="54"/>
                </a:cubicBezTo>
                <a:cubicBezTo>
                  <a:pt x="52745" y="54"/>
                  <a:pt x="35916" y="71586"/>
                  <a:pt x="35916" y="71586"/>
                </a:cubicBezTo>
                <a:cubicBezTo>
                  <a:pt x="33690" y="81533"/>
                  <a:pt x="31763" y="90920"/>
                  <a:pt x="31763" y="94513"/>
                </a:cubicBezTo>
                <a:cubicBezTo>
                  <a:pt x="31763" y="101692"/>
                  <a:pt x="38124" y="103341"/>
                  <a:pt x="43636" y="103341"/>
                </a:cubicBezTo>
                <a:cubicBezTo>
                  <a:pt x="48333" y="103341"/>
                  <a:pt x="54134" y="99751"/>
                  <a:pt x="58002" y="97262"/>
                </a:cubicBezTo>
                <a:cubicBezTo>
                  <a:pt x="70438" y="89253"/>
                  <a:pt x="76232" y="74072"/>
                  <a:pt x="79543" y="60251"/>
                </a:cubicBezTo>
                <a:cubicBezTo>
                  <a:pt x="79543" y="60251"/>
                  <a:pt x="93630" y="1161"/>
                  <a:pt x="93630" y="1161"/>
                </a:cubicBezTo>
                <a:cubicBezTo>
                  <a:pt x="93630" y="1161"/>
                  <a:pt x="122352" y="1161"/>
                  <a:pt x="122352" y="1161"/>
                </a:cubicBezTo>
                <a:cubicBezTo>
                  <a:pt x="122352" y="1161"/>
                  <a:pt x="103856" y="82074"/>
                  <a:pt x="103856" y="82074"/>
                </a:cubicBezTo>
                <a:cubicBezTo>
                  <a:pt x="101914" y="90360"/>
                  <a:pt x="100807" y="96718"/>
                  <a:pt x="101088" y="98644"/>
                </a:cubicBezTo>
                <a:cubicBezTo>
                  <a:pt x="101373" y="101414"/>
                  <a:pt x="104140" y="103078"/>
                  <a:pt x="106601" y="103078"/>
                </a:cubicBezTo>
                <a:cubicBezTo>
                  <a:pt x="116557" y="103078"/>
                  <a:pt x="128709" y="80148"/>
                  <a:pt x="132301" y="72127"/>
                </a:cubicBezTo>
                <a:cubicBezTo>
                  <a:pt x="132301" y="72127"/>
                  <a:pt x="138380" y="75457"/>
                  <a:pt x="138380" y="75457"/>
                </a:cubicBezTo>
                <a:cubicBezTo>
                  <a:pt x="131201" y="93950"/>
                  <a:pt x="116016" y="114676"/>
                  <a:pt x="94725" y="114676"/>
                </a:cubicBezTo>
                <a:cubicBezTo>
                  <a:pt x="78161" y="114676"/>
                  <a:pt x="73749" y="104185"/>
                  <a:pt x="74027" y="88156"/>
                </a:cubicBezTo>
              </a:path>
            </a:pathLst>
          </a:custGeom>
          <a:solidFill>
            <a:srgbClr val="161413"/>
          </a:solidFill>
          <a:ln w="3143" cap="flat">
            <a:noFill/>
            <a:prstDash val="solid"/>
            <a:miter/>
          </a:ln>
        </p:spPr>
        <p:txBody>
          <a:bodyPr/>
          <a:lstStyle/>
          <a:p>
            <a:endParaRPr lang="de-DE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39AF7F5-8B92-B51E-28B2-22033929B6C1}"/>
              </a:ext>
            </a:extLst>
          </p:cNvPr>
          <p:cNvSpPr/>
          <p:nvPr/>
        </p:nvSpPr>
        <p:spPr>
          <a:xfrm>
            <a:off x="11710898" y="632480"/>
            <a:ext cx="99163" cy="156002"/>
          </a:xfrm>
          <a:custGeom>
            <a:avLst/>
            <a:gdLst>
              <a:gd name="csX0" fmla="*/ 55 w 43472"/>
              <a:gd name="csY0" fmla="*/ 72867 h 73576"/>
              <a:gd name="csX1" fmla="*/ 9913 w 43472"/>
              <a:gd name="csY1" fmla="*/ 29 h 73576"/>
              <a:gd name="csX2" fmla="*/ 19096 w 43472"/>
              <a:gd name="csY2" fmla="*/ 29 h 73576"/>
              <a:gd name="csX3" fmla="*/ 15082 w 43472"/>
              <a:gd name="csY3" fmla="*/ 28253 h 73576"/>
              <a:gd name="csX4" fmla="*/ 15280 w 43472"/>
              <a:gd name="csY4" fmla="*/ 28450 h 73576"/>
              <a:gd name="csX5" fmla="*/ 26820 w 43472"/>
              <a:gd name="csY5" fmla="*/ 23179 h 73576"/>
              <a:gd name="csX6" fmla="*/ 43528 w 43472"/>
              <a:gd name="csY6" fmla="*/ 44841 h 73576"/>
              <a:gd name="csX7" fmla="*/ 12637 w 43472"/>
              <a:gd name="csY7" fmla="*/ 73606 h 73576"/>
              <a:gd name="csX8" fmla="*/ 55 w 43472"/>
              <a:gd name="csY8" fmla="*/ 72867 h 73576"/>
              <a:gd name="csX9" fmla="*/ 13920 w 43472"/>
              <a:gd name="csY9" fmla="*/ 37022 h 73576"/>
              <a:gd name="csX10" fmla="*/ 9789 w 43472"/>
              <a:gd name="csY10" fmla="*/ 66203 h 73576"/>
              <a:gd name="csX11" fmla="*/ 14764 w 43472"/>
              <a:gd name="csY11" fmla="*/ 66203 h 73576"/>
              <a:gd name="csX12" fmla="*/ 34317 w 43472"/>
              <a:gd name="csY12" fmla="*/ 44643 h 73576"/>
              <a:gd name="csX13" fmla="*/ 24074 w 43472"/>
              <a:gd name="csY13" fmla="*/ 31001 h 73576"/>
              <a:gd name="csX14" fmla="*/ 13920 w 43472"/>
              <a:gd name="csY14" fmla="*/ 37022 h 73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3472" h="73576">
                <a:moveTo>
                  <a:pt x="55" y="72867"/>
                </a:moveTo>
                <a:cubicBezTo>
                  <a:pt x="55" y="72867"/>
                  <a:pt x="9913" y="29"/>
                  <a:pt x="9913" y="29"/>
                </a:cubicBezTo>
                <a:cubicBezTo>
                  <a:pt x="9913" y="29"/>
                  <a:pt x="19096" y="29"/>
                  <a:pt x="19096" y="29"/>
                </a:cubicBezTo>
                <a:cubicBezTo>
                  <a:pt x="19096" y="29"/>
                  <a:pt x="15082" y="28253"/>
                  <a:pt x="15082" y="28253"/>
                </a:cubicBezTo>
                <a:cubicBezTo>
                  <a:pt x="15082" y="28253"/>
                  <a:pt x="15280" y="28450"/>
                  <a:pt x="15280" y="28450"/>
                </a:cubicBezTo>
                <a:cubicBezTo>
                  <a:pt x="19195" y="24542"/>
                  <a:pt x="22364" y="23179"/>
                  <a:pt x="26820" y="23179"/>
                </a:cubicBezTo>
                <a:cubicBezTo>
                  <a:pt x="36745" y="23179"/>
                  <a:pt x="43528" y="32062"/>
                  <a:pt x="43528" y="44841"/>
                </a:cubicBezTo>
                <a:cubicBezTo>
                  <a:pt x="43528" y="57540"/>
                  <a:pt x="36547" y="73606"/>
                  <a:pt x="12637" y="73606"/>
                </a:cubicBezTo>
                <a:cubicBezTo>
                  <a:pt x="8104" y="73606"/>
                  <a:pt x="2811" y="73287"/>
                  <a:pt x="55" y="72867"/>
                </a:cubicBezTo>
                <a:close/>
                <a:moveTo>
                  <a:pt x="13920" y="37022"/>
                </a:moveTo>
                <a:cubicBezTo>
                  <a:pt x="13920" y="37022"/>
                  <a:pt x="9789" y="66203"/>
                  <a:pt x="9789" y="66203"/>
                </a:cubicBezTo>
                <a:cubicBezTo>
                  <a:pt x="9789" y="66203"/>
                  <a:pt x="14764" y="66203"/>
                  <a:pt x="14764" y="66203"/>
                </a:cubicBezTo>
                <a:cubicBezTo>
                  <a:pt x="27243" y="66203"/>
                  <a:pt x="34317" y="57441"/>
                  <a:pt x="34317" y="44643"/>
                </a:cubicBezTo>
                <a:cubicBezTo>
                  <a:pt x="34317" y="35973"/>
                  <a:pt x="30412" y="31001"/>
                  <a:pt x="24074" y="31001"/>
                </a:cubicBezTo>
                <a:cubicBezTo>
                  <a:pt x="21102" y="31001"/>
                  <a:pt x="14541" y="33008"/>
                  <a:pt x="13920" y="37022"/>
                </a:cubicBezTo>
              </a:path>
            </a:pathLst>
          </a:custGeom>
          <a:solidFill>
            <a:srgbClr val="161413"/>
          </a:solidFill>
          <a:ln w="3143" cap="flat">
            <a:noFill/>
            <a:prstDash val="solid"/>
            <a:miter/>
          </a:ln>
        </p:spPr>
        <p:txBody>
          <a:bodyPr/>
          <a:lstStyle/>
          <a:p>
            <a:endParaRPr lang="de-DE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3471332-6ABF-4516-4E6D-ADDC451F7DA0}"/>
              </a:ext>
            </a:extLst>
          </p:cNvPr>
          <p:cNvSpPr/>
          <p:nvPr/>
        </p:nvSpPr>
        <p:spPr>
          <a:xfrm>
            <a:off x="10508484" y="787817"/>
            <a:ext cx="1307392" cy="6713"/>
          </a:xfrm>
          <a:custGeom>
            <a:avLst/>
            <a:gdLst>
              <a:gd name="csX0" fmla="*/ 9 w 573144"/>
              <a:gd name="csY0" fmla="*/ 126 h 3166"/>
              <a:gd name="csX1" fmla="*/ 573154 w 573144"/>
              <a:gd name="csY1" fmla="*/ 126 h 316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3144" h="3166">
                <a:moveTo>
                  <a:pt x="9" y="126"/>
                </a:moveTo>
                <a:cubicBezTo>
                  <a:pt x="9" y="126"/>
                  <a:pt x="573154" y="126"/>
                  <a:pt x="573154" y="126"/>
                </a:cubicBezTo>
              </a:path>
            </a:pathLst>
          </a:custGeom>
          <a:noFill/>
          <a:ln w="5656" cap="flat">
            <a:noFill/>
            <a:prstDash val="solid"/>
            <a:miter/>
          </a:ln>
        </p:spPr>
        <p:txBody>
          <a:bodyPr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179584-0B38-4DB2-D764-84133D984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297" y="427406"/>
            <a:ext cx="5054421" cy="720822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chemeClr val="bg1"/>
                </a:solidFill>
                <a:highlight>
                  <a:srgbClr val="23B7DF"/>
                </a:highlight>
              </a:rPr>
              <a:t>Aufwandanalyse</a:t>
            </a:r>
            <a:endParaRPr lang="de-DE" sz="4800" dirty="0">
              <a:solidFill>
                <a:schemeClr val="bg1"/>
              </a:solidFill>
              <a:highlight>
                <a:srgbClr val="23B7DF"/>
              </a:highlight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1F447CB-73A4-925A-B1D8-589D717569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0665841"/>
              </p:ext>
            </p:extLst>
          </p:nvPr>
        </p:nvGraphicFramePr>
        <p:xfrm>
          <a:off x="781345" y="1334558"/>
          <a:ext cx="6922816" cy="425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67BEB03-548D-EB78-6F24-E30A36B5908B}"/>
              </a:ext>
            </a:extLst>
          </p:cNvPr>
          <p:cNvSpPr txBox="1"/>
          <p:nvPr/>
        </p:nvSpPr>
        <p:spPr>
          <a:xfrm>
            <a:off x="8473816" y="2207010"/>
            <a:ext cx="290155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Bei Administrativen Aufgaben </a:t>
            </a:r>
          </a:p>
          <a:p>
            <a:r>
              <a:rPr lang="de-DE" sz="6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~50%</a:t>
            </a:r>
            <a:b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abweichung von Einschätzung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77467C-3567-E2C2-7D67-6EB8D46F7DDE}"/>
              </a:ext>
            </a:extLst>
          </p:cNvPr>
          <p:cNvSpPr txBox="1"/>
          <p:nvPr/>
        </p:nvSpPr>
        <p:spPr>
          <a:xfrm>
            <a:off x="412702" y="5531574"/>
            <a:ext cx="112981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Massnahme: Bewusst Zeit beiseite legen und gezwungen Admin-Aufgaben abarbeiten</a:t>
            </a:r>
          </a:p>
        </p:txBody>
      </p:sp>
    </p:spTree>
    <p:extLst>
      <p:ext uri="{BB962C8B-B14F-4D97-AF65-F5344CB8AC3E}">
        <p14:creationId xmlns:p14="http://schemas.microsoft.com/office/powerpoint/2010/main" val="3079265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EC442-04DC-BED9-067B-C6DCCA440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FAC07B-3BA0-95A8-4A14-957EA62B000C}"/>
              </a:ext>
            </a:extLst>
          </p:cNvPr>
          <p:cNvSpPr/>
          <p:nvPr/>
        </p:nvSpPr>
        <p:spPr>
          <a:xfrm>
            <a:off x="-158750" y="-177800"/>
            <a:ext cx="12408259" cy="1419193"/>
          </a:xfrm>
          <a:prstGeom prst="rect">
            <a:avLst/>
          </a:prstGeom>
          <a:solidFill>
            <a:srgbClr val="23B7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Picture 4" descr="SWIss DRG&#10;&#10;AI-generated content may be incorrect.">
            <a:extLst>
              <a:ext uri="{FF2B5EF4-FFF2-40B4-BE49-F238E27FC236}">
                <a16:creationId xmlns:a16="http://schemas.microsoft.com/office/drawing/2014/main" id="{93CE94DA-EF62-E2F0-9A9F-482A6C221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0571"/>
            <a:ext cx="3657600" cy="720822"/>
          </a:xfrm>
          <a:prstGeom prst="rect">
            <a:avLst/>
          </a:pr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9FAE1C4-C0F0-D857-BDDD-619A84163C9C}"/>
              </a:ext>
            </a:extLst>
          </p:cNvPr>
          <p:cNvSpPr/>
          <p:nvPr/>
        </p:nvSpPr>
        <p:spPr>
          <a:xfrm>
            <a:off x="11375366" y="796696"/>
            <a:ext cx="315636" cy="243028"/>
          </a:xfrm>
          <a:custGeom>
            <a:avLst/>
            <a:gdLst>
              <a:gd name="csX0" fmla="*/ 74027 w 138371"/>
              <a:gd name="csY0" fmla="*/ 88156 h 114621"/>
              <a:gd name="csX1" fmla="*/ 28733 w 138371"/>
              <a:gd name="csY1" fmla="*/ 114676 h 114621"/>
              <a:gd name="csX2" fmla="*/ 4143 w 138371"/>
              <a:gd name="csY2" fmla="*/ 94776 h 114621"/>
              <a:gd name="csX3" fmla="*/ 7733 w 138371"/>
              <a:gd name="csY3" fmla="*/ 73231 h 114621"/>
              <a:gd name="csX4" fmla="*/ 21814 w 138371"/>
              <a:gd name="csY4" fmla="*/ 8056 h 114621"/>
              <a:gd name="csX5" fmla="*/ 9 w 138371"/>
              <a:gd name="csY5" fmla="*/ 8056 h 114621"/>
              <a:gd name="csX6" fmla="*/ 1935 w 138371"/>
              <a:gd name="csY6" fmla="*/ 1161 h 114621"/>
              <a:gd name="csX7" fmla="*/ 27351 w 138371"/>
              <a:gd name="csY7" fmla="*/ 1161 h 114621"/>
              <a:gd name="csX8" fmla="*/ 52745 w 138371"/>
              <a:gd name="csY8" fmla="*/ 54 h 114621"/>
              <a:gd name="csX9" fmla="*/ 35916 w 138371"/>
              <a:gd name="csY9" fmla="*/ 71586 h 114621"/>
              <a:gd name="csX10" fmla="*/ 31763 w 138371"/>
              <a:gd name="csY10" fmla="*/ 94513 h 114621"/>
              <a:gd name="csX11" fmla="*/ 43636 w 138371"/>
              <a:gd name="csY11" fmla="*/ 103341 h 114621"/>
              <a:gd name="csX12" fmla="*/ 58002 w 138371"/>
              <a:gd name="csY12" fmla="*/ 97262 h 114621"/>
              <a:gd name="csX13" fmla="*/ 79543 w 138371"/>
              <a:gd name="csY13" fmla="*/ 60251 h 114621"/>
              <a:gd name="csX14" fmla="*/ 93630 w 138371"/>
              <a:gd name="csY14" fmla="*/ 1161 h 114621"/>
              <a:gd name="csX15" fmla="*/ 122352 w 138371"/>
              <a:gd name="csY15" fmla="*/ 1161 h 114621"/>
              <a:gd name="csX16" fmla="*/ 103856 w 138371"/>
              <a:gd name="csY16" fmla="*/ 82074 h 114621"/>
              <a:gd name="csX17" fmla="*/ 101088 w 138371"/>
              <a:gd name="csY17" fmla="*/ 98644 h 114621"/>
              <a:gd name="csX18" fmla="*/ 106601 w 138371"/>
              <a:gd name="csY18" fmla="*/ 103078 h 114621"/>
              <a:gd name="csX19" fmla="*/ 132301 w 138371"/>
              <a:gd name="csY19" fmla="*/ 72127 h 114621"/>
              <a:gd name="csX20" fmla="*/ 138380 w 138371"/>
              <a:gd name="csY20" fmla="*/ 75457 h 114621"/>
              <a:gd name="csX21" fmla="*/ 94725 w 138371"/>
              <a:gd name="csY21" fmla="*/ 114676 h 114621"/>
              <a:gd name="csX22" fmla="*/ 74027 w 138371"/>
              <a:gd name="csY22" fmla="*/ 88156 h 1146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38371" h="114621">
                <a:moveTo>
                  <a:pt x="74027" y="88156"/>
                </a:moveTo>
                <a:cubicBezTo>
                  <a:pt x="62154" y="103078"/>
                  <a:pt x="48055" y="114676"/>
                  <a:pt x="28733" y="114676"/>
                </a:cubicBezTo>
                <a:cubicBezTo>
                  <a:pt x="15738" y="114676"/>
                  <a:pt x="4143" y="110260"/>
                  <a:pt x="4143" y="94776"/>
                </a:cubicBezTo>
                <a:cubicBezTo>
                  <a:pt x="4143" y="90920"/>
                  <a:pt x="5806" y="82074"/>
                  <a:pt x="7733" y="73231"/>
                </a:cubicBezTo>
                <a:cubicBezTo>
                  <a:pt x="7733" y="73231"/>
                  <a:pt x="21814" y="8056"/>
                  <a:pt x="21814" y="8056"/>
                </a:cubicBezTo>
                <a:cubicBezTo>
                  <a:pt x="21814" y="8056"/>
                  <a:pt x="9" y="8056"/>
                  <a:pt x="9" y="8056"/>
                </a:cubicBezTo>
                <a:cubicBezTo>
                  <a:pt x="9" y="8056"/>
                  <a:pt x="1935" y="1161"/>
                  <a:pt x="1935" y="1161"/>
                </a:cubicBezTo>
                <a:cubicBezTo>
                  <a:pt x="1935" y="1161"/>
                  <a:pt x="27351" y="1161"/>
                  <a:pt x="27351" y="1161"/>
                </a:cubicBezTo>
                <a:cubicBezTo>
                  <a:pt x="35916" y="1161"/>
                  <a:pt x="44199" y="54"/>
                  <a:pt x="52745" y="54"/>
                </a:cubicBezTo>
                <a:cubicBezTo>
                  <a:pt x="52745" y="54"/>
                  <a:pt x="35916" y="71586"/>
                  <a:pt x="35916" y="71586"/>
                </a:cubicBezTo>
                <a:cubicBezTo>
                  <a:pt x="33690" y="81533"/>
                  <a:pt x="31763" y="90920"/>
                  <a:pt x="31763" y="94513"/>
                </a:cubicBezTo>
                <a:cubicBezTo>
                  <a:pt x="31763" y="101692"/>
                  <a:pt x="38124" y="103341"/>
                  <a:pt x="43636" y="103341"/>
                </a:cubicBezTo>
                <a:cubicBezTo>
                  <a:pt x="48333" y="103341"/>
                  <a:pt x="54134" y="99751"/>
                  <a:pt x="58002" y="97262"/>
                </a:cubicBezTo>
                <a:cubicBezTo>
                  <a:pt x="70438" y="89253"/>
                  <a:pt x="76232" y="74072"/>
                  <a:pt x="79543" y="60251"/>
                </a:cubicBezTo>
                <a:cubicBezTo>
                  <a:pt x="79543" y="60251"/>
                  <a:pt x="93630" y="1161"/>
                  <a:pt x="93630" y="1161"/>
                </a:cubicBezTo>
                <a:cubicBezTo>
                  <a:pt x="93630" y="1161"/>
                  <a:pt x="122352" y="1161"/>
                  <a:pt x="122352" y="1161"/>
                </a:cubicBezTo>
                <a:cubicBezTo>
                  <a:pt x="122352" y="1161"/>
                  <a:pt x="103856" y="82074"/>
                  <a:pt x="103856" y="82074"/>
                </a:cubicBezTo>
                <a:cubicBezTo>
                  <a:pt x="101914" y="90360"/>
                  <a:pt x="100807" y="96718"/>
                  <a:pt x="101088" y="98644"/>
                </a:cubicBezTo>
                <a:cubicBezTo>
                  <a:pt x="101373" y="101414"/>
                  <a:pt x="104140" y="103078"/>
                  <a:pt x="106601" y="103078"/>
                </a:cubicBezTo>
                <a:cubicBezTo>
                  <a:pt x="116557" y="103078"/>
                  <a:pt x="128709" y="80148"/>
                  <a:pt x="132301" y="72127"/>
                </a:cubicBezTo>
                <a:cubicBezTo>
                  <a:pt x="132301" y="72127"/>
                  <a:pt x="138380" y="75457"/>
                  <a:pt x="138380" y="75457"/>
                </a:cubicBezTo>
                <a:cubicBezTo>
                  <a:pt x="131201" y="93950"/>
                  <a:pt x="116016" y="114676"/>
                  <a:pt x="94725" y="114676"/>
                </a:cubicBezTo>
                <a:cubicBezTo>
                  <a:pt x="78161" y="114676"/>
                  <a:pt x="73749" y="104185"/>
                  <a:pt x="74027" y="88156"/>
                </a:cubicBezTo>
              </a:path>
            </a:pathLst>
          </a:custGeom>
          <a:solidFill>
            <a:srgbClr val="161413"/>
          </a:solidFill>
          <a:ln w="3143" cap="flat">
            <a:noFill/>
            <a:prstDash val="solid"/>
            <a:miter/>
          </a:ln>
        </p:spPr>
        <p:txBody>
          <a:bodyPr/>
          <a:lstStyle/>
          <a:p>
            <a:endParaRPr lang="de-DE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A8C4C08-4F82-4542-21C1-921F8EA70540}"/>
              </a:ext>
            </a:extLst>
          </p:cNvPr>
          <p:cNvSpPr/>
          <p:nvPr/>
        </p:nvSpPr>
        <p:spPr>
          <a:xfrm>
            <a:off x="11710898" y="632480"/>
            <a:ext cx="99163" cy="156002"/>
          </a:xfrm>
          <a:custGeom>
            <a:avLst/>
            <a:gdLst>
              <a:gd name="csX0" fmla="*/ 55 w 43472"/>
              <a:gd name="csY0" fmla="*/ 72867 h 73576"/>
              <a:gd name="csX1" fmla="*/ 9913 w 43472"/>
              <a:gd name="csY1" fmla="*/ 29 h 73576"/>
              <a:gd name="csX2" fmla="*/ 19096 w 43472"/>
              <a:gd name="csY2" fmla="*/ 29 h 73576"/>
              <a:gd name="csX3" fmla="*/ 15082 w 43472"/>
              <a:gd name="csY3" fmla="*/ 28253 h 73576"/>
              <a:gd name="csX4" fmla="*/ 15280 w 43472"/>
              <a:gd name="csY4" fmla="*/ 28450 h 73576"/>
              <a:gd name="csX5" fmla="*/ 26820 w 43472"/>
              <a:gd name="csY5" fmla="*/ 23179 h 73576"/>
              <a:gd name="csX6" fmla="*/ 43528 w 43472"/>
              <a:gd name="csY6" fmla="*/ 44841 h 73576"/>
              <a:gd name="csX7" fmla="*/ 12637 w 43472"/>
              <a:gd name="csY7" fmla="*/ 73606 h 73576"/>
              <a:gd name="csX8" fmla="*/ 55 w 43472"/>
              <a:gd name="csY8" fmla="*/ 72867 h 73576"/>
              <a:gd name="csX9" fmla="*/ 13920 w 43472"/>
              <a:gd name="csY9" fmla="*/ 37022 h 73576"/>
              <a:gd name="csX10" fmla="*/ 9789 w 43472"/>
              <a:gd name="csY10" fmla="*/ 66203 h 73576"/>
              <a:gd name="csX11" fmla="*/ 14764 w 43472"/>
              <a:gd name="csY11" fmla="*/ 66203 h 73576"/>
              <a:gd name="csX12" fmla="*/ 34317 w 43472"/>
              <a:gd name="csY12" fmla="*/ 44643 h 73576"/>
              <a:gd name="csX13" fmla="*/ 24074 w 43472"/>
              <a:gd name="csY13" fmla="*/ 31001 h 73576"/>
              <a:gd name="csX14" fmla="*/ 13920 w 43472"/>
              <a:gd name="csY14" fmla="*/ 37022 h 73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3472" h="73576">
                <a:moveTo>
                  <a:pt x="55" y="72867"/>
                </a:moveTo>
                <a:cubicBezTo>
                  <a:pt x="55" y="72867"/>
                  <a:pt x="9913" y="29"/>
                  <a:pt x="9913" y="29"/>
                </a:cubicBezTo>
                <a:cubicBezTo>
                  <a:pt x="9913" y="29"/>
                  <a:pt x="19096" y="29"/>
                  <a:pt x="19096" y="29"/>
                </a:cubicBezTo>
                <a:cubicBezTo>
                  <a:pt x="19096" y="29"/>
                  <a:pt x="15082" y="28253"/>
                  <a:pt x="15082" y="28253"/>
                </a:cubicBezTo>
                <a:cubicBezTo>
                  <a:pt x="15082" y="28253"/>
                  <a:pt x="15280" y="28450"/>
                  <a:pt x="15280" y="28450"/>
                </a:cubicBezTo>
                <a:cubicBezTo>
                  <a:pt x="19195" y="24542"/>
                  <a:pt x="22364" y="23179"/>
                  <a:pt x="26820" y="23179"/>
                </a:cubicBezTo>
                <a:cubicBezTo>
                  <a:pt x="36745" y="23179"/>
                  <a:pt x="43528" y="32062"/>
                  <a:pt x="43528" y="44841"/>
                </a:cubicBezTo>
                <a:cubicBezTo>
                  <a:pt x="43528" y="57540"/>
                  <a:pt x="36547" y="73606"/>
                  <a:pt x="12637" y="73606"/>
                </a:cubicBezTo>
                <a:cubicBezTo>
                  <a:pt x="8104" y="73606"/>
                  <a:pt x="2811" y="73287"/>
                  <a:pt x="55" y="72867"/>
                </a:cubicBezTo>
                <a:close/>
                <a:moveTo>
                  <a:pt x="13920" y="37022"/>
                </a:moveTo>
                <a:cubicBezTo>
                  <a:pt x="13920" y="37022"/>
                  <a:pt x="9789" y="66203"/>
                  <a:pt x="9789" y="66203"/>
                </a:cubicBezTo>
                <a:cubicBezTo>
                  <a:pt x="9789" y="66203"/>
                  <a:pt x="14764" y="66203"/>
                  <a:pt x="14764" y="66203"/>
                </a:cubicBezTo>
                <a:cubicBezTo>
                  <a:pt x="27243" y="66203"/>
                  <a:pt x="34317" y="57441"/>
                  <a:pt x="34317" y="44643"/>
                </a:cubicBezTo>
                <a:cubicBezTo>
                  <a:pt x="34317" y="35973"/>
                  <a:pt x="30412" y="31001"/>
                  <a:pt x="24074" y="31001"/>
                </a:cubicBezTo>
                <a:cubicBezTo>
                  <a:pt x="21102" y="31001"/>
                  <a:pt x="14541" y="33008"/>
                  <a:pt x="13920" y="37022"/>
                </a:cubicBezTo>
              </a:path>
            </a:pathLst>
          </a:custGeom>
          <a:solidFill>
            <a:srgbClr val="161413"/>
          </a:solidFill>
          <a:ln w="3143" cap="flat">
            <a:noFill/>
            <a:prstDash val="solid"/>
            <a:miter/>
          </a:ln>
        </p:spPr>
        <p:txBody>
          <a:bodyPr/>
          <a:lstStyle/>
          <a:p>
            <a:endParaRPr lang="de-DE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AF506C4-64CB-7978-E230-2C101538FFF7}"/>
              </a:ext>
            </a:extLst>
          </p:cNvPr>
          <p:cNvSpPr/>
          <p:nvPr/>
        </p:nvSpPr>
        <p:spPr>
          <a:xfrm>
            <a:off x="10508484" y="787817"/>
            <a:ext cx="1307392" cy="6713"/>
          </a:xfrm>
          <a:custGeom>
            <a:avLst/>
            <a:gdLst>
              <a:gd name="csX0" fmla="*/ 9 w 573144"/>
              <a:gd name="csY0" fmla="*/ 126 h 3166"/>
              <a:gd name="csX1" fmla="*/ 573154 w 573144"/>
              <a:gd name="csY1" fmla="*/ 126 h 316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3144" h="3166">
                <a:moveTo>
                  <a:pt x="9" y="126"/>
                </a:moveTo>
                <a:cubicBezTo>
                  <a:pt x="9" y="126"/>
                  <a:pt x="573154" y="126"/>
                  <a:pt x="573154" y="126"/>
                </a:cubicBezTo>
              </a:path>
            </a:pathLst>
          </a:custGeom>
          <a:noFill/>
          <a:ln w="5656" cap="flat">
            <a:noFill/>
            <a:prstDash val="solid"/>
            <a:miter/>
          </a:ln>
        </p:spPr>
        <p:txBody>
          <a:bodyPr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DC3F3-E5CB-366F-51C1-ABB892844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297" y="427406"/>
            <a:ext cx="5054421" cy="720822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chemeClr val="bg1"/>
                </a:solidFill>
                <a:highlight>
                  <a:srgbClr val="23B7DF"/>
                </a:highlight>
              </a:rPr>
              <a:t>Kommunikation</a:t>
            </a:r>
            <a:endParaRPr lang="de-DE" sz="4800" dirty="0">
              <a:solidFill>
                <a:schemeClr val="bg1"/>
              </a:solidFill>
              <a:highlight>
                <a:srgbClr val="23B7DF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07F39A-67BB-F12B-B221-E2DC821D053A}"/>
              </a:ext>
            </a:extLst>
          </p:cNvPr>
          <p:cNvSpPr txBox="1"/>
          <p:nvPr/>
        </p:nvSpPr>
        <p:spPr>
          <a:xfrm>
            <a:off x="998113" y="1836629"/>
            <a:ext cx="10567160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 dirty="0"/>
              <a:t>Problem:</a:t>
            </a:r>
            <a:r>
              <a:rPr lang="de-DE" sz="2400" dirty="0"/>
              <a:t> Projekt-Updates gehen unter im Chat.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C431B3-4CD6-E3F5-5682-601F0152ADEA}"/>
              </a:ext>
            </a:extLst>
          </p:cNvPr>
          <p:cNvSpPr txBox="1"/>
          <p:nvPr/>
        </p:nvSpPr>
        <p:spPr>
          <a:xfrm>
            <a:off x="972355" y="3013656"/>
            <a:ext cx="9672034" cy="1701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 dirty="0"/>
              <a:t>Massnahme:</a:t>
            </a:r>
            <a:r>
              <a:rPr lang="de-DE" sz="2400" dirty="0"/>
              <a:t> Wöchentliche Sync-Meetings ➔ Konzepte statt Code.</a:t>
            </a:r>
            <a:br>
              <a:rPr lang="de-DE" sz="2400" dirty="0"/>
            </a:br>
            <a:r>
              <a:rPr lang="de-DE" sz="2400" dirty="0"/>
              <a:t>                              Private Chats für technisches</a:t>
            </a:r>
            <a:br>
              <a:rPr lang="de-DE" sz="2400" dirty="0"/>
            </a:br>
            <a:endParaRPr lang="de-DE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436E11-CC56-51E9-0C86-61643F2418A5}"/>
              </a:ext>
            </a:extLst>
          </p:cNvPr>
          <p:cNvSpPr txBox="1"/>
          <p:nvPr/>
        </p:nvSpPr>
        <p:spPr>
          <a:xfrm>
            <a:off x="998113" y="4861775"/>
            <a:ext cx="8390586" cy="1147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 dirty="0"/>
              <a:t>Lesson Learned:</a:t>
            </a:r>
            <a:r>
              <a:rPr lang="de-DE" sz="2400" dirty="0"/>
              <a:t> Viel ist nicht besser. </a:t>
            </a:r>
            <a:br>
              <a:rPr lang="de-DE" sz="2400" dirty="0"/>
            </a:br>
            <a:r>
              <a:rPr lang="de-DE" sz="2400" dirty="0"/>
              <a:t>	                       Verständnis vom Gesamtbildes ist wichtig.</a:t>
            </a:r>
          </a:p>
        </p:txBody>
      </p:sp>
    </p:spTree>
    <p:extLst>
      <p:ext uri="{BB962C8B-B14F-4D97-AF65-F5344CB8AC3E}">
        <p14:creationId xmlns:p14="http://schemas.microsoft.com/office/powerpoint/2010/main" val="337965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F2739-B9E1-2B57-9BA8-1CA86CEF0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D4A771-A089-5FF4-40E5-9DCCE08FD702}"/>
              </a:ext>
            </a:extLst>
          </p:cNvPr>
          <p:cNvSpPr/>
          <p:nvPr/>
        </p:nvSpPr>
        <p:spPr>
          <a:xfrm>
            <a:off x="-158750" y="-177800"/>
            <a:ext cx="12408259" cy="1419193"/>
          </a:xfrm>
          <a:prstGeom prst="rect">
            <a:avLst/>
          </a:prstGeom>
          <a:solidFill>
            <a:srgbClr val="23B7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Picture 4" descr="SWIss DRG&#10;&#10;AI-generated content may be incorrect.">
            <a:extLst>
              <a:ext uri="{FF2B5EF4-FFF2-40B4-BE49-F238E27FC236}">
                <a16:creationId xmlns:a16="http://schemas.microsoft.com/office/drawing/2014/main" id="{51323BE7-291A-2EE7-1782-1C046DC6D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0571"/>
            <a:ext cx="3657600" cy="720822"/>
          </a:xfrm>
          <a:prstGeom prst="rect">
            <a:avLst/>
          </a:pr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A6E8060-BA48-0E36-4332-367216BA7C5C}"/>
              </a:ext>
            </a:extLst>
          </p:cNvPr>
          <p:cNvSpPr/>
          <p:nvPr/>
        </p:nvSpPr>
        <p:spPr>
          <a:xfrm>
            <a:off x="11375366" y="796696"/>
            <a:ext cx="315636" cy="243028"/>
          </a:xfrm>
          <a:custGeom>
            <a:avLst/>
            <a:gdLst>
              <a:gd name="csX0" fmla="*/ 74027 w 138371"/>
              <a:gd name="csY0" fmla="*/ 88156 h 114621"/>
              <a:gd name="csX1" fmla="*/ 28733 w 138371"/>
              <a:gd name="csY1" fmla="*/ 114676 h 114621"/>
              <a:gd name="csX2" fmla="*/ 4143 w 138371"/>
              <a:gd name="csY2" fmla="*/ 94776 h 114621"/>
              <a:gd name="csX3" fmla="*/ 7733 w 138371"/>
              <a:gd name="csY3" fmla="*/ 73231 h 114621"/>
              <a:gd name="csX4" fmla="*/ 21814 w 138371"/>
              <a:gd name="csY4" fmla="*/ 8056 h 114621"/>
              <a:gd name="csX5" fmla="*/ 9 w 138371"/>
              <a:gd name="csY5" fmla="*/ 8056 h 114621"/>
              <a:gd name="csX6" fmla="*/ 1935 w 138371"/>
              <a:gd name="csY6" fmla="*/ 1161 h 114621"/>
              <a:gd name="csX7" fmla="*/ 27351 w 138371"/>
              <a:gd name="csY7" fmla="*/ 1161 h 114621"/>
              <a:gd name="csX8" fmla="*/ 52745 w 138371"/>
              <a:gd name="csY8" fmla="*/ 54 h 114621"/>
              <a:gd name="csX9" fmla="*/ 35916 w 138371"/>
              <a:gd name="csY9" fmla="*/ 71586 h 114621"/>
              <a:gd name="csX10" fmla="*/ 31763 w 138371"/>
              <a:gd name="csY10" fmla="*/ 94513 h 114621"/>
              <a:gd name="csX11" fmla="*/ 43636 w 138371"/>
              <a:gd name="csY11" fmla="*/ 103341 h 114621"/>
              <a:gd name="csX12" fmla="*/ 58002 w 138371"/>
              <a:gd name="csY12" fmla="*/ 97262 h 114621"/>
              <a:gd name="csX13" fmla="*/ 79543 w 138371"/>
              <a:gd name="csY13" fmla="*/ 60251 h 114621"/>
              <a:gd name="csX14" fmla="*/ 93630 w 138371"/>
              <a:gd name="csY14" fmla="*/ 1161 h 114621"/>
              <a:gd name="csX15" fmla="*/ 122352 w 138371"/>
              <a:gd name="csY15" fmla="*/ 1161 h 114621"/>
              <a:gd name="csX16" fmla="*/ 103856 w 138371"/>
              <a:gd name="csY16" fmla="*/ 82074 h 114621"/>
              <a:gd name="csX17" fmla="*/ 101088 w 138371"/>
              <a:gd name="csY17" fmla="*/ 98644 h 114621"/>
              <a:gd name="csX18" fmla="*/ 106601 w 138371"/>
              <a:gd name="csY18" fmla="*/ 103078 h 114621"/>
              <a:gd name="csX19" fmla="*/ 132301 w 138371"/>
              <a:gd name="csY19" fmla="*/ 72127 h 114621"/>
              <a:gd name="csX20" fmla="*/ 138380 w 138371"/>
              <a:gd name="csY20" fmla="*/ 75457 h 114621"/>
              <a:gd name="csX21" fmla="*/ 94725 w 138371"/>
              <a:gd name="csY21" fmla="*/ 114676 h 114621"/>
              <a:gd name="csX22" fmla="*/ 74027 w 138371"/>
              <a:gd name="csY22" fmla="*/ 88156 h 1146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38371" h="114621">
                <a:moveTo>
                  <a:pt x="74027" y="88156"/>
                </a:moveTo>
                <a:cubicBezTo>
                  <a:pt x="62154" y="103078"/>
                  <a:pt x="48055" y="114676"/>
                  <a:pt x="28733" y="114676"/>
                </a:cubicBezTo>
                <a:cubicBezTo>
                  <a:pt x="15738" y="114676"/>
                  <a:pt x="4143" y="110260"/>
                  <a:pt x="4143" y="94776"/>
                </a:cubicBezTo>
                <a:cubicBezTo>
                  <a:pt x="4143" y="90920"/>
                  <a:pt x="5806" y="82074"/>
                  <a:pt x="7733" y="73231"/>
                </a:cubicBezTo>
                <a:cubicBezTo>
                  <a:pt x="7733" y="73231"/>
                  <a:pt x="21814" y="8056"/>
                  <a:pt x="21814" y="8056"/>
                </a:cubicBezTo>
                <a:cubicBezTo>
                  <a:pt x="21814" y="8056"/>
                  <a:pt x="9" y="8056"/>
                  <a:pt x="9" y="8056"/>
                </a:cubicBezTo>
                <a:cubicBezTo>
                  <a:pt x="9" y="8056"/>
                  <a:pt x="1935" y="1161"/>
                  <a:pt x="1935" y="1161"/>
                </a:cubicBezTo>
                <a:cubicBezTo>
                  <a:pt x="1935" y="1161"/>
                  <a:pt x="27351" y="1161"/>
                  <a:pt x="27351" y="1161"/>
                </a:cubicBezTo>
                <a:cubicBezTo>
                  <a:pt x="35916" y="1161"/>
                  <a:pt x="44199" y="54"/>
                  <a:pt x="52745" y="54"/>
                </a:cubicBezTo>
                <a:cubicBezTo>
                  <a:pt x="52745" y="54"/>
                  <a:pt x="35916" y="71586"/>
                  <a:pt x="35916" y="71586"/>
                </a:cubicBezTo>
                <a:cubicBezTo>
                  <a:pt x="33690" y="81533"/>
                  <a:pt x="31763" y="90920"/>
                  <a:pt x="31763" y="94513"/>
                </a:cubicBezTo>
                <a:cubicBezTo>
                  <a:pt x="31763" y="101692"/>
                  <a:pt x="38124" y="103341"/>
                  <a:pt x="43636" y="103341"/>
                </a:cubicBezTo>
                <a:cubicBezTo>
                  <a:pt x="48333" y="103341"/>
                  <a:pt x="54134" y="99751"/>
                  <a:pt x="58002" y="97262"/>
                </a:cubicBezTo>
                <a:cubicBezTo>
                  <a:pt x="70438" y="89253"/>
                  <a:pt x="76232" y="74072"/>
                  <a:pt x="79543" y="60251"/>
                </a:cubicBezTo>
                <a:cubicBezTo>
                  <a:pt x="79543" y="60251"/>
                  <a:pt x="93630" y="1161"/>
                  <a:pt x="93630" y="1161"/>
                </a:cubicBezTo>
                <a:cubicBezTo>
                  <a:pt x="93630" y="1161"/>
                  <a:pt x="122352" y="1161"/>
                  <a:pt x="122352" y="1161"/>
                </a:cubicBezTo>
                <a:cubicBezTo>
                  <a:pt x="122352" y="1161"/>
                  <a:pt x="103856" y="82074"/>
                  <a:pt x="103856" y="82074"/>
                </a:cubicBezTo>
                <a:cubicBezTo>
                  <a:pt x="101914" y="90360"/>
                  <a:pt x="100807" y="96718"/>
                  <a:pt x="101088" y="98644"/>
                </a:cubicBezTo>
                <a:cubicBezTo>
                  <a:pt x="101373" y="101414"/>
                  <a:pt x="104140" y="103078"/>
                  <a:pt x="106601" y="103078"/>
                </a:cubicBezTo>
                <a:cubicBezTo>
                  <a:pt x="116557" y="103078"/>
                  <a:pt x="128709" y="80148"/>
                  <a:pt x="132301" y="72127"/>
                </a:cubicBezTo>
                <a:cubicBezTo>
                  <a:pt x="132301" y="72127"/>
                  <a:pt x="138380" y="75457"/>
                  <a:pt x="138380" y="75457"/>
                </a:cubicBezTo>
                <a:cubicBezTo>
                  <a:pt x="131201" y="93950"/>
                  <a:pt x="116016" y="114676"/>
                  <a:pt x="94725" y="114676"/>
                </a:cubicBezTo>
                <a:cubicBezTo>
                  <a:pt x="78161" y="114676"/>
                  <a:pt x="73749" y="104185"/>
                  <a:pt x="74027" y="88156"/>
                </a:cubicBezTo>
              </a:path>
            </a:pathLst>
          </a:custGeom>
          <a:solidFill>
            <a:srgbClr val="161413"/>
          </a:solidFill>
          <a:ln w="3143" cap="flat">
            <a:noFill/>
            <a:prstDash val="solid"/>
            <a:miter/>
          </a:ln>
        </p:spPr>
        <p:txBody>
          <a:bodyPr/>
          <a:lstStyle/>
          <a:p>
            <a:endParaRPr lang="de-DE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0149B68-E6E6-3C5E-819B-109B6A71CF98}"/>
              </a:ext>
            </a:extLst>
          </p:cNvPr>
          <p:cNvSpPr/>
          <p:nvPr/>
        </p:nvSpPr>
        <p:spPr>
          <a:xfrm>
            <a:off x="11710898" y="632480"/>
            <a:ext cx="99163" cy="156002"/>
          </a:xfrm>
          <a:custGeom>
            <a:avLst/>
            <a:gdLst>
              <a:gd name="csX0" fmla="*/ 55 w 43472"/>
              <a:gd name="csY0" fmla="*/ 72867 h 73576"/>
              <a:gd name="csX1" fmla="*/ 9913 w 43472"/>
              <a:gd name="csY1" fmla="*/ 29 h 73576"/>
              <a:gd name="csX2" fmla="*/ 19096 w 43472"/>
              <a:gd name="csY2" fmla="*/ 29 h 73576"/>
              <a:gd name="csX3" fmla="*/ 15082 w 43472"/>
              <a:gd name="csY3" fmla="*/ 28253 h 73576"/>
              <a:gd name="csX4" fmla="*/ 15280 w 43472"/>
              <a:gd name="csY4" fmla="*/ 28450 h 73576"/>
              <a:gd name="csX5" fmla="*/ 26820 w 43472"/>
              <a:gd name="csY5" fmla="*/ 23179 h 73576"/>
              <a:gd name="csX6" fmla="*/ 43528 w 43472"/>
              <a:gd name="csY6" fmla="*/ 44841 h 73576"/>
              <a:gd name="csX7" fmla="*/ 12637 w 43472"/>
              <a:gd name="csY7" fmla="*/ 73606 h 73576"/>
              <a:gd name="csX8" fmla="*/ 55 w 43472"/>
              <a:gd name="csY8" fmla="*/ 72867 h 73576"/>
              <a:gd name="csX9" fmla="*/ 13920 w 43472"/>
              <a:gd name="csY9" fmla="*/ 37022 h 73576"/>
              <a:gd name="csX10" fmla="*/ 9789 w 43472"/>
              <a:gd name="csY10" fmla="*/ 66203 h 73576"/>
              <a:gd name="csX11" fmla="*/ 14764 w 43472"/>
              <a:gd name="csY11" fmla="*/ 66203 h 73576"/>
              <a:gd name="csX12" fmla="*/ 34317 w 43472"/>
              <a:gd name="csY12" fmla="*/ 44643 h 73576"/>
              <a:gd name="csX13" fmla="*/ 24074 w 43472"/>
              <a:gd name="csY13" fmla="*/ 31001 h 73576"/>
              <a:gd name="csX14" fmla="*/ 13920 w 43472"/>
              <a:gd name="csY14" fmla="*/ 37022 h 73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3472" h="73576">
                <a:moveTo>
                  <a:pt x="55" y="72867"/>
                </a:moveTo>
                <a:cubicBezTo>
                  <a:pt x="55" y="72867"/>
                  <a:pt x="9913" y="29"/>
                  <a:pt x="9913" y="29"/>
                </a:cubicBezTo>
                <a:cubicBezTo>
                  <a:pt x="9913" y="29"/>
                  <a:pt x="19096" y="29"/>
                  <a:pt x="19096" y="29"/>
                </a:cubicBezTo>
                <a:cubicBezTo>
                  <a:pt x="19096" y="29"/>
                  <a:pt x="15082" y="28253"/>
                  <a:pt x="15082" y="28253"/>
                </a:cubicBezTo>
                <a:cubicBezTo>
                  <a:pt x="15082" y="28253"/>
                  <a:pt x="15280" y="28450"/>
                  <a:pt x="15280" y="28450"/>
                </a:cubicBezTo>
                <a:cubicBezTo>
                  <a:pt x="19195" y="24542"/>
                  <a:pt x="22364" y="23179"/>
                  <a:pt x="26820" y="23179"/>
                </a:cubicBezTo>
                <a:cubicBezTo>
                  <a:pt x="36745" y="23179"/>
                  <a:pt x="43528" y="32062"/>
                  <a:pt x="43528" y="44841"/>
                </a:cubicBezTo>
                <a:cubicBezTo>
                  <a:pt x="43528" y="57540"/>
                  <a:pt x="36547" y="73606"/>
                  <a:pt x="12637" y="73606"/>
                </a:cubicBezTo>
                <a:cubicBezTo>
                  <a:pt x="8104" y="73606"/>
                  <a:pt x="2811" y="73287"/>
                  <a:pt x="55" y="72867"/>
                </a:cubicBezTo>
                <a:close/>
                <a:moveTo>
                  <a:pt x="13920" y="37022"/>
                </a:moveTo>
                <a:cubicBezTo>
                  <a:pt x="13920" y="37022"/>
                  <a:pt x="9789" y="66203"/>
                  <a:pt x="9789" y="66203"/>
                </a:cubicBezTo>
                <a:cubicBezTo>
                  <a:pt x="9789" y="66203"/>
                  <a:pt x="14764" y="66203"/>
                  <a:pt x="14764" y="66203"/>
                </a:cubicBezTo>
                <a:cubicBezTo>
                  <a:pt x="27243" y="66203"/>
                  <a:pt x="34317" y="57441"/>
                  <a:pt x="34317" y="44643"/>
                </a:cubicBezTo>
                <a:cubicBezTo>
                  <a:pt x="34317" y="35973"/>
                  <a:pt x="30412" y="31001"/>
                  <a:pt x="24074" y="31001"/>
                </a:cubicBezTo>
                <a:cubicBezTo>
                  <a:pt x="21102" y="31001"/>
                  <a:pt x="14541" y="33008"/>
                  <a:pt x="13920" y="37022"/>
                </a:cubicBezTo>
              </a:path>
            </a:pathLst>
          </a:custGeom>
          <a:solidFill>
            <a:srgbClr val="161413"/>
          </a:solidFill>
          <a:ln w="3143" cap="flat">
            <a:noFill/>
            <a:prstDash val="solid"/>
            <a:miter/>
          </a:ln>
        </p:spPr>
        <p:txBody>
          <a:bodyPr/>
          <a:lstStyle/>
          <a:p>
            <a:endParaRPr lang="de-DE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632ABB16-B1CE-12A0-7EF2-9CDB85C243F9}"/>
              </a:ext>
            </a:extLst>
          </p:cNvPr>
          <p:cNvSpPr/>
          <p:nvPr/>
        </p:nvSpPr>
        <p:spPr>
          <a:xfrm>
            <a:off x="10508484" y="787817"/>
            <a:ext cx="1307392" cy="6713"/>
          </a:xfrm>
          <a:custGeom>
            <a:avLst/>
            <a:gdLst>
              <a:gd name="csX0" fmla="*/ 9 w 573144"/>
              <a:gd name="csY0" fmla="*/ 126 h 3166"/>
              <a:gd name="csX1" fmla="*/ 573154 w 573144"/>
              <a:gd name="csY1" fmla="*/ 126 h 316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3144" h="3166">
                <a:moveTo>
                  <a:pt x="9" y="126"/>
                </a:moveTo>
                <a:cubicBezTo>
                  <a:pt x="9" y="126"/>
                  <a:pt x="573154" y="126"/>
                  <a:pt x="573154" y="126"/>
                </a:cubicBezTo>
              </a:path>
            </a:pathLst>
          </a:custGeom>
          <a:noFill/>
          <a:ln w="5656" cap="flat">
            <a:noFill/>
            <a:prstDash val="solid"/>
            <a:miter/>
          </a:ln>
        </p:spPr>
        <p:txBody>
          <a:bodyPr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8F62E7-5402-DAF7-688D-FAB5A7104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5038" y="427406"/>
            <a:ext cx="5054421" cy="720822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chemeClr val="bg1"/>
                </a:solidFill>
                <a:highlight>
                  <a:srgbClr val="23B7DF"/>
                </a:highlight>
              </a:rPr>
              <a:t>Risikoanalyse</a:t>
            </a:r>
            <a:endParaRPr lang="de-DE" sz="4800" dirty="0">
              <a:solidFill>
                <a:schemeClr val="bg1"/>
              </a:solidFill>
              <a:highlight>
                <a:srgbClr val="23B7DF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6B713-4D37-A340-F6BE-BCA271251AC3}"/>
              </a:ext>
            </a:extLst>
          </p:cNvPr>
          <p:cNvSpPr txBox="1"/>
          <p:nvPr/>
        </p:nvSpPr>
        <p:spPr>
          <a:xfrm>
            <a:off x="424326" y="1394875"/>
            <a:ext cx="10084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Problem</a:t>
            </a:r>
            <a:r>
              <a:rPr lang="de-DE" sz="2400" dirty="0"/>
              <a:t>: Wissenslücke in Programmiersprache/Umgebung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FC83F1-22E8-2E52-EEF1-DC8F6F8B6CAB}"/>
              </a:ext>
            </a:extLst>
          </p:cNvPr>
          <p:cNvSpPr txBox="1"/>
          <p:nvPr/>
        </p:nvSpPr>
        <p:spPr>
          <a:xfrm>
            <a:off x="424326" y="1831840"/>
            <a:ext cx="10084158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/>
              <a:t>Problem:</a:t>
            </a:r>
            <a:r>
              <a:rPr lang="en-GB" sz="2400" dirty="0"/>
              <a:t> </a:t>
            </a:r>
            <a:r>
              <a:rPr lang="en-GB" sz="2400" dirty="0" err="1"/>
              <a:t>Vage</a:t>
            </a:r>
            <a:r>
              <a:rPr lang="en-GB" sz="2400" dirty="0"/>
              <a:t> User Stories &amp; </a:t>
            </a:r>
            <a:r>
              <a:rPr lang="en-GB" sz="2400" dirty="0" err="1"/>
              <a:t>unklare</a:t>
            </a:r>
            <a:r>
              <a:rPr lang="en-GB" sz="2400" dirty="0"/>
              <a:t> </a:t>
            </a:r>
            <a:r>
              <a:rPr lang="en-GB" sz="2400" dirty="0" err="1"/>
              <a:t>Kundenanforderungen</a:t>
            </a:r>
            <a:r>
              <a:rPr lang="en-GB" sz="240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2DCA8A-8DFA-87E8-8F6A-FCA8F44A3A28}"/>
              </a:ext>
            </a:extLst>
          </p:cNvPr>
          <p:cNvSpPr txBox="1"/>
          <p:nvPr/>
        </p:nvSpPr>
        <p:spPr>
          <a:xfrm>
            <a:off x="392806" y="5260211"/>
            <a:ext cx="112981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Einsicht: Immer die unbekannten Risiken problematisch</a:t>
            </a:r>
          </a:p>
          <a:p>
            <a:r>
              <a:rPr lang="de-DE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-&gt; Mehr Planen in Risiken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85E07-90DD-49E3-4AA6-0A76DCBA66BA}"/>
              </a:ext>
            </a:extLst>
          </p:cNvPr>
          <p:cNvSpPr txBox="1"/>
          <p:nvPr/>
        </p:nvSpPr>
        <p:spPr>
          <a:xfrm>
            <a:off x="424326" y="2706892"/>
            <a:ext cx="10084158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 dirty="0"/>
              <a:t>Massnahme:</a:t>
            </a:r>
            <a:r>
              <a:rPr lang="de-DE" sz="2400" dirty="0"/>
              <a:t> Eigenständiges Herunterbrechen in "Engineering Tasks".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A8DA88-C852-A3FF-3061-F1994A99A170}"/>
              </a:ext>
            </a:extLst>
          </p:cNvPr>
          <p:cNvSpPr txBox="1"/>
          <p:nvPr/>
        </p:nvSpPr>
        <p:spPr>
          <a:xfrm>
            <a:off x="508715" y="3728851"/>
            <a:ext cx="10084158" cy="1147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 dirty="0"/>
              <a:t>Lesson Learned:</a:t>
            </a:r>
            <a:r>
              <a:rPr lang="de-DE" sz="2400" dirty="0"/>
              <a:t> Gefahr von "Developer Bias" erkannt; künftig striktere Ausrichtung am Kundenwunsch.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78310B-CD8E-E206-348C-6C63371FE6D9}"/>
              </a:ext>
            </a:extLst>
          </p:cNvPr>
          <p:cNvSpPr txBox="1"/>
          <p:nvPr/>
        </p:nvSpPr>
        <p:spPr>
          <a:xfrm>
            <a:off x="424326" y="1402928"/>
            <a:ext cx="10084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strike="sngStrike" dirty="0">
                <a:solidFill>
                  <a:schemeClr val="bg2">
                    <a:lumMod val="90000"/>
                  </a:schemeClr>
                </a:solidFill>
              </a:rPr>
              <a:t>Problem</a:t>
            </a:r>
            <a:r>
              <a:rPr lang="de-DE" sz="2400" strike="sngStrike" dirty="0">
                <a:solidFill>
                  <a:schemeClr val="bg2">
                    <a:lumMod val="90000"/>
                  </a:schemeClr>
                </a:solidFill>
              </a:rPr>
              <a:t>: Wissenslücke in Programmiersprache/Umgebung</a:t>
            </a:r>
          </a:p>
        </p:txBody>
      </p:sp>
    </p:spTree>
    <p:extLst>
      <p:ext uri="{BB962C8B-B14F-4D97-AF65-F5344CB8AC3E}">
        <p14:creationId xmlns:p14="http://schemas.microsoft.com/office/powerpoint/2010/main" val="229469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3" grpId="2" build="allAtOnce"/>
      <p:bldP spid="4" grpId="0"/>
      <p:bldP spid="14" grpId="0"/>
      <p:bldP spid="1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EFA0A-A40A-E1ED-EE26-564A00F2D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1C86E6-61A9-9D29-D5FB-FBB32BA254CF}"/>
              </a:ext>
            </a:extLst>
          </p:cNvPr>
          <p:cNvSpPr/>
          <p:nvPr/>
        </p:nvSpPr>
        <p:spPr>
          <a:xfrm>
            <a:off x="-158750" y="-177800"/>
            <a:ext cx="12408259" cy="1419193"/>
          </a:xfrm>
          <a:prstGeom prst="rect">
            <a:avLst/>
          </a:prstGeom>
          <a:solidFill>
            <a:srgbClr val="23B7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Picture 4" descr="SWIss DRG&#10;&#10;AI-generated content may be incorrect.">
            <a:extLst>
              <a:ext uri="{FF2B5EF4-FFF2-40B4-BE49-F238E27FC236}">
                <a16:creationId xmlns:a16="http://schemas.microsoft.com/office/drawing/2014/main" id="{9C4F4BCE-9B3D-2C15-4D02-65B5B211B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0571"/>
            <a:ext cx="3657600" cy="720822"/>
          </a:xfrm>
          <a:prstGeom prst="rect">
            <a:avLst/>
          </a:pr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ACDBBC81-E8BC-FF11-E1EE-95C52E2D42FA}"/>
              </a:ext>
            </a:extLst>
          </p:cNvPr>
          <p:cNvSpPr/>
          <p:nvPr/>
        </p:nvSpPr>
        <p:spPr>
          <a:xfrm>
            <a:off x="11375366" y="796696"/>
            <a:ext cx="315636" cy="243028"/>
          </a:xfrm>
          <a:custGeom>
            <a:avLst/>
            <a:gdLst>
              <a:gd name="csX0" fmla="*/ 74027 w 138371"/>
              <a:gd name="csY0" fmla="*/ 88156 h 114621"/>
              <a:gd name="csX1" fmla="*/ 28733 w 138371"/>
              <a:gd name="csY1" fmla="*/ 114676 h 114621"/>
              <a:gd name="csX2" fmla="*/ 4143 w 138371"/>
              <a:gd name="csY2" fmla="*/ 94776 h 114621"/>
              <a:gd name="csX3" fmla="*/ 7733 w 138371"/>
              <a:gd name="csY3" fmla="*/ 73231 h 114621"/>
              <a:gd name="csX4" fmla="*/ 21814 w 138371"/>
              <a:gd name="csY4" fmla="*/ 8056 h 114621"/>
              <a:gd name="csX5" fmla="*/ 9 w 138371"/>
              <a:gd name="csY5" fmla="*/ 8056 h 114621"/>
              <a:gd name="csX6" fmla="*/ 1935 w 138371"/>
              <a:gd name="csY6" fmla="*/ 1161 h 114621"/>
              <a:gd name="csX7" fmla="*/ 27351 w 138371"/>
              <a:gd name="csY7" fmla="*/ 1161 h 114621"/>
              <a:gd name="csX8" fmla="*/ 52745 w 138371"/>
              <a:gd name="csY8" fmla="*/ 54 h 114621"/>
              <a:gd name="csX9" fmla="*/ 35916 w 138371"/>
              <a:gd name="csY9" fmla="*/ 71586 h 114621"/>
              <a:gd name="csX10" fmla="*/ 31763 w 138371"/>
              <a:gd name="csY10" fmla="*/ 94513 h 114621"/>
              <a:gd name="csX11" fmla="*/ 43636 w 138371"/>
              <a:gd name="csY11" fmla="*/ 103341 h 114621"/>
              <a:gd name="csX12" fmla="*/ 58002 w 138371"/>
              <a:gd name="csY12" fmla="*/ 97262 h 114621"/>
              <a:gd name="csX13" fmla="*/ 79543 w 138371"/>
              <a:gd name="csY13" fmla="*/ 60251 h 114621"/>
              <a:gd name="csX14" fmla="*/ 93630 w 138371"/>
              <a:gd name="csY14" fmla="*/ 1161 h 114621"/>
              <a:gd name="csX15" fmla="*/ 122352 w 138371"/>
              <a:gd name="csY15" fmla="*/ 1161 h 114621"/>
              <a:gd name="csX16" fmla="*/ 103856 w 138371"/>
              <a:gd name="csY16" fmla="*/ 82074 h 114621"/>
              <a:gd name="csX17" fmla="*/ 101088 w 138371"/>
              <a:gd name="csY17" fmla="*/ 98644 h 114621"/>
              <a:gd name="csX18" fmla="*/ 106601 w 138371"/>
              <a:gd name="csY18" fmla="*/ 103078 h 114621"/>
              <a:gd name="csX19" fmla="*/ 132301 w 138371"/>
              <a:gd name="csY19" fmla="*/ 72127 h 114621"/>
              <a:gd name="csX20" fmla="*/ 138380 w 138371"/>
              <a:gd name="csY20" fmla="*/ 75457 h 114621"/>
              <a:gd name="csX21" fmla="*/ 94725 w 138371"/>
              <a:gd name="csY21" fmla="*/ 114676 h 114621"/>
              <a:gd name="csX22" fmla="*/ 74027 w 138371"/>
              <a:gd name="csY22" fmla="*/ 88156 h 1146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38371" h="114621">
                <a:moveTo>
                  <a:pt x="74027" y="88156"/>
                </a:moveTo>
                <a:cubicBezTo>
                  <a:pt x="62154" y="103078"/>
                  <a:pt x="48055" y="114676"/>
                  <a:pt x="28733" y="114676"/>
                </a:cubicBezTo>
                <a:cubicBezTo>
                  <a:pt x="15738" y="114676"/>
                  <a:pt x="4143" y="110260"/>
                  <a:pt x="4143" y="94776"/>
                </a:cubicBezTo>
                <a:cubicBezTo>
                  <a:pt x="4143" y="90920"/>
                  <a:pt x="5806" y="82074"/>
                  <a:pt x="7733" y="73231"/>
                </a:cubicBezTo>
                <a:cubicBezTo>
                  <a:pt x="7733" y="73231"/>
                  <a:pt x="21814" y="8056"/>
                  <a:pt x="21814" y="8056"/>
                </a:cubicBezTo>
                <a:cubicBezTo>
                  <a:pt x="21814" y="8056"/>
                  <a:pt x="9" y="8056"/>
                  <a:pt x="9" y="8056"/>
                </a:cubicBezTo>
                <a:cubicBezTo>
                  <a:pt x="9" y="8056"/>
                  <a:pt x="1935" y="1161"/>
                  <a:pt x="1935" y="1161"/>
                </a:cubicBezTo>
                <a:cubicBezTo>
                  <a:pt x="1935" y="1161"/>
                  <a:pt x="27351" y="1161"/>
                  <a:pt x="27351" y="1161"/>
                </a:cubicBezTo>
                <a:cubicBezTo>
                  <a:pt x="35916" y="1161"/>
                  <a:pt x="44199" y="54"/>
                  <a:pt x="52745" y="54"/>
                </a:cubicBezTo>
                <a:cubicBezTo>
                  <a:pt x="52745" y="54"/>
                  <a:pt x="35916" y="71586"/>
                  <a:pt x="35916" y="71586"/>
                </a:cubicBezTo>
                <a:cubicBezTo>
                  <a:pt x="33690" y="81533"/>
                  <a:pt x="31763" y="90920"/>
                  <a:pt x="31763" y="94513"/>
                </a:cubicBezTo>
                <a:cubicBezTo>
                  <a:pt x="31763" y="101692"/>
                  <a:pt x="38124" y="103341"/>
                  <a:pt x="43636" y="103341"/>
                </a:cubicBezTo>
                <a:cubicBezTo>
                  <a:pt x="48333" y="103341"/>
                  <a:pt x="54134" y="99751"/>
                  <a:pt x="58002" y="97262"/>
                </a:cubicBezTo>
                <a:cubicBezTo>
                  <a:pt x="70438" y="89253"/>
                  <a:pt x="76232" y="74072"/>
                  <a:pt x="79543" y="60251"/>
                </a:cubicBezTo>
                <a:cubicBezTo>
                  <a:pt x="79543" y="60251"/>
                  <a:pt x="93630" y="1161"/>
                  <a:pt x="93630" y="1161"/>
                </a:cubicBezTo>
                <a:cubicBezTo>
                  <a:pt x="93630" y="1161"/>
                  <a:pt x="122352" y="1161"/>
                  <a:pt x="122352" y="1161"/>
                </a:cubicBezTo>
                <a:cubicBezTo>
                  <a:pt x="122352" y="1161"/>
                  <a:pt x="103856" y="82074"/>
                  <a:pt x="103856" y="82074"/>
                </a:cubicBezTo>
                <a:cubicBezTo>
                  <a:pt x="101914" y="90360"/>
                  <a:pt x="100807" y="96718"/>
                  <a:pt x="101088" y="98644"/>
                </a:cubicBezTo>
                <a:cubicBezTo>
                  <a:pt x="101373" y="101414"/>
                  <a:pt x="104140" y="103078"/>
                  <a:pt x="106601" y="103078"/>
                </a:cubicBezTo>
                <a:cubicBezTo>
                  <a:pt x="116557" y="103078"/>
                  <a:pt x="128709" y="80148"/>
                  <a:pt x="132301" y="72127"/>
                </a:cubicBezTo>
                <a:cubicBezTo>
                  <a:pt x="132301" y="72127"/>
                  <a:pt x="138380" y="75457"/>
                  <a:pt x="138380" y="75457"/>
                </a:cubicBezTo>
                <a:cubicBezTo>
                  <a:pt x="131201" y="93950"/>
                  <a:pt x="116016" y="114676"/>
                  <a:pt x="94725" y="114676"/>
                </a:cubicBezTo>
                <a:cubicBezTo>
                  <a:pt x="78161" y="114676"/>
                  <a:pt x="73749" y="104185"/>
                  <a:pt x="74027" y="88156"/>
                </a:cubicBezTo>
              </a:path>
            </a:pathLst>
          </a:custGeom>
          <a:solidFill>
            <a:srgbClr val="161413"/>
          </a:solidFill>
          <a:ln w="3143" cap="flat">
            <a:noFill/>
            <a:prstDash val="solid"/>
            <a:miter/>
          </a:ln>
        </p:spPr>
        <p:txBody>
          <a:bodyPr/>
          <a:lstStyle/>
          <a:p>
            <a:endParaRPr lang="de-DE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52CB388-E692-5ADF-1BDB-697F5FAEAE48}"/>
              </a:ext>
            </a:extLst>
          </p:cNvPr>
          <p:cNvSpPr/>
          <p:nvPr/>
        </p:nvSpPr>
        <p:spPr>
          <a:xfrm>
            <a:off x="11710898" y="632480"/>
            <a:ext cx="99163" cy="156002"/>
          </a:xfrm>
          <a:custGeom>
            <a:avLst/>
            <a:gdLst>
              <a:gd name="csX0" fmla="*/ 55 w 43472"/>
              <a:gd name="csY0" fmla="*/ 72867 h 73576"/>
              <a:gd name="csX1" fmla="*/ 9913 w 43472"/>
              <a:gd name="csY1" fmla="*/ 29 h 73576"/>
              <a:gd name="csX2" fmla="*/ 19096 w 43472"/>
              <a:gd name="csY2" fmla="*/ 29 h 73576"/>
              <a:gd name="csX3" fmla="*/ 15082 w 43472"/>
              <a:gd name="csY3" fmla="*/ 28253 h 73576"/>
              <a:gd name="csX4" fmla="*/ 15280 w 43472"/>
              <a:gd name="csY4" fmla="*/ 28450 h 73576"/>
              <a:gd name="csX5" fmla="*/ 26820 w 43472"/>
              <a:gd name="csY5" fmla="*/ 23179 h 73576"/>
              <a:gd name="csX6" fmla="*/ 43528 w 43472"/>
              <a:gd name="csY6" fmla="*/ 44841 h 73576"/>
              <a:gd name="csX7" fmla="*/ 12637 w 43472"/>
              <a:gd name="csY7" fmla="*/ 73606 h 73576"/>
              <a:gd name="csX8" fmla="*/ 55 w 43472"/>
              <a:gd name="csY8" fmla="*/ 72867 h 73576"/>
              <a:gd name="csX9" fmla="*/ 13920 w 43472"/>
              <a:gd name="csY9" fmla="*/ 37022 h 73576"/>
              <a:gd name="csX10" fmla="*/ 9789 w 43472"/>
              <a:gd name="csY10" fmla="*/ 66203 h 73576"/>
              <a:gd name="csX11" fmla="*/ 14764 w 43472"/>
              <a:gd name="csY11" fmla="*/ 66203 h 73576"/>
              <a:gd name="csX12" fmla="*/ 34317 w 43472"/>
              <a:gd name="csY12" fmla="*/ 44643 h 73576"/>
              <a:gd name="csX13" fmla="*/ 24074 w 43472"/>
              <a:gd name="csY13" fmla="*/ 31001 h 73576"/>
              <a:gd name="csX14" fmla="*/ 13920 w 43472"/>
              <a:gd name="csY14" fmla="*/ 37022 h 73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3472" h="73576">
                <a:moveTo>
                  <a:pt x="55" y="72867"/>
                </a:moveTo>
                <a:cubicBezTo>
                  <a:pt x="55" y="72867"/>
                  <a:pt x="9913" y="29"/>
                  <a:pt x="9913" y="29"/>
                </a:cubicBezTo>
                <a:cubicBezTo>
                  <a:pt x="9913" y="29"/>
                  <a:pt x="19096" y="29"/>
                  <a:pt x="19096" y="29"/>
                </a:cubicBezTo>
                <a:cubicBezTo>
                  <a:pt x="19096" y="29"/>
                  <a:pt x="15082" y="28253"/>
                  <a:pt x="15082" y="28253"/>
                </a:cubicBezTo>
                <a:cubicBezTo>
                  <a:pt x="15082" y="28253"/>
                  <a:pt x="15280" y="28450"/>
                  <a:pt x="15280" y="28450"/>
                </a:cubicBezTo>
                <a:cubicBezTo>
                  <a:pt x="19195" y="24542"/>
                  <a:pt x="22364" y="23179"/>
                  <a:pt x="26820" y="23179"/>
                </a:cubicBezTo>
                <a:cubicBezTo>
                  <a:pt x="36745" y="23179"/>
                  <a:pt x="43528" y="32062"/>
                  <a:pt x="43528" y="44841"/>
                </a:cubicBezTo>
                <a:cubicBezTo>
                  <a:pt x="43528" y="57540"/>
                  <a:pt x="36547" y="73606"/>
                  <a:pt x="12637" y="73606"/>
                </a:cubicBezTo>
                <a:cubicBezTo>
                  <a:pt x="8104" y="73606"/>
                  <a:pt x="2811" y="73287"/>
                  <a:pt x="55" y="72867"/>
                </a:cubicBezTo>
                <a:close/>
                <a:moveTo>
                  <a:pt x="13920" y="37022"/>
                </a:moveTo>
                <a:cubicBezTo>
                  <a:pt x="13920" y="37022"/>
                  <a:pt x="9789" y="66203"/>
                  <a:pt x="9789" y="66203"/>
                </a:cubicBezTo>
                <a:cubicBezTo>
                  <a:pt x="9789" y="66203"/>
                  <a:pt x="14764" y="66203"/>
                  <a:pt x="14764" y="66203"/>
                </a:cubicBezTo>
                <a:cubicBezTo>
                  <a:pt x="27243" y="66203"/>
                  <a:pt x="34317" y="57441"/>
                  <a:pt x="34317" y="44643"/>
                </a:cubicBezTo>
                <a:cubicBezTo>
                  <a:pt x="34317" y="35973"/>
                  <a:pt x="30412" y="31001"/>
                  <a:pt x="24074" y="31001"/>
                </a:cubicBezTo>
                <a:cubicBezTo>
                  <a:pt x="21102" y="31001"/>
                  <a:pt x="14541" y="33008"/>
                  <a:pt x="13920" y="37022"/>
                </a:cubicBezTo>
              </a:path>
            </a:pathLst>
          </a:custGeom>
          <a:solidFill>
            <a:srgbClr val="161413"/>
          </a:solidFill>
          <a:ln w="3143" cap="flat">
            <a:noFill/>
            <a:prstDash val="solid"/>
            <a:miter/>
          </a:ln>
        </p:spPr>
        <p:txBody>
          <a:bodyPr/>
          <a:lstStyle/>
          <a:p>
            <a:endParaRPr lang="de-DE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BA2DF18-CE0F-07AF-9F72-174F14449B7F}"/>
              </a:ext>
            </a:extLst>
          </p:cNvPr>
          <p:cNvSpPr/>
          <p:nvPr/>
        </p:nvSpPr>
        <p:spPr>
          <a:xfrm>
            <a:off x="10508484" y="787817"/>
            <a:ext cx="1307392" cy="6713"/>
          </a:xfrm>
          <a:custGeom>
            <a:avLst/>
            <a:gdLst>
              <a:gd name="csX0" fmla="*/ 9 w 573144"/>
              <a:gd name="csY0" fmla="*/ 126 h 3166"/>
              <a:gd name="csX1" fmla="*/ 573154 w 573144"/>
              <a:gd name="csY1" fmla="*/ 126 h 316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3144" h="3166">
                <a:moveTo>
                  <a:pt x="9" y="126"/>
                </a:moveTo>
                <a:cubicBezTo>
                  <a:pt x="9" y="126"/>
                  <a:pt x="573154" y="126"/>
                  <a:pt x="573154" y="126"/>
                </a:cubicBezTo>
              </a:path>
            </a:pathLst>
          </a:custGeom>
          <a:noFill/>
          <a:ln w="5656" cap="flat">
            <a:noFill/>
            <a:prstDash val="solid"/>
            <a:miter/>
          </a:ln>
        </p:spPr>
        <p:txBody>
          <a:bodyPr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B7A7D3-8BDA-387F-6322-BA089E35A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96257" y="466710"/>
            <a:ext cx="5054421" cy="720822"/>
          </a:xfrm>
        </p:spPr>
        <p:txBody>
          <a:bodyPr>
            <a:normAutofit fontScale="90000"/>
          </a:bodyPr>
          <a:lstStyle/>
          <a:p>
            <a:r>
              <a:rPr lang="de-DE" sz="6700" dirty="0">
                <a:solidFill>
                  <a:schemeClr val="bg1"/>
                </a:solidFill>
                <a:highlight>
                  <a:srgbClr val="23B7DF"/>
                </a:highlight>
              </a:rPr>
              <a:t>Fazit</a:t>
            </a:r>
            <a:r>
              <a:rPr lang="de-DE" dirty="0">
                <a:solidFill>
                  <a:schemeClr val="bg1"/>
                </a:solidFill>
                <a:highlight>
                  <a:srgbClr val="23B7DF"/>
                </a:highlight>
              </a:rPr>
              <a:t>    </a:t>
            </a:r>
            <a:endParaRPr lang="de-DE" sz="4800" dirty="0">
              <a:solidFill>
                <a:schemeClr val="bg1"/>
              </a:solidFill>
              <a:highlight>
                <a:srgbClr val="23B7DF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47B600-BBE5-C312-EAFB-01E73D613B39}"/>
              </a:ext>
            </a:extLst>
          </p:cNvPr>
          <p:cNvSpPr txBox="1"/>
          <p:nvPr/>
        </p:nvSpPr>
        <p:spPr>
          <a:xfrm>
            <a:off x="508714" y="2113845"/>
            <a:ext cx="10866651" cy="3908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Erste Iteration voller Erfolg</a:t>
            </a:r>
          </a:p>
          <a:p>
            <a:pPr>
              <a:lnSpc>
                <a:spcPct val="150000"/>
              </a:lnSpc>
            </a:pPr>
            <a:endParaRPr lang="de-DE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de-DE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Gespannt auf Demo und ob sich unsere Meinung ändern wird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de-DE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de-DE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de-DE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03A309-F103-3D4E-B579-195A5BFA0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131" y="4272651"/>
            <a:ext cx="2149640" cy="21617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8F7C92-6A72-7A3D-3997-AF0D62446782}"/>
              </a:ext>
            </a:extLst>
          </p:cNvPr>
          <p:cNvSpPr txBox="1"/>
          <p:nvPr/>
        </p:nvSpPr>
        <p:spPr>
          <a:xfrm>
            <a:off x="508714" y="4703112"/>
            <a:ext cx="6434417" cy="1969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800" b="1" dirty="0">
                <a:solidFill>
                  <a:srgbClr val="00B050"/>
                </a:solidFill>
              </a:rPr>
              <a:t>- Kein Projekt = 26x Shrek anschauen</a:t>
            </a:r>
            <a:br>
              <a:rPr lang="de-DE" sz="2800" b="1" dirty="0">
                <a:solidFill>
                  <a:srgbClr val="00B050"/>
                </a:solidFill>
              </a:rPr>
            </a:br>
            <a:br>
              <a:rPr lang="de-DE" sz="2800" b="1" dirty="0">
                <a:solidFill>
                  <a:srgbClr val="00B050"/>
                </a:solidFill>
              </a:rPr>
            </a:br>
            <a:endParaRPr lang="de-DE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9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90E29-5F4F-FDE5-A3D1-432937E1E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708039-BD38-1C35-62C3-0BC2AFB58309}"/>
              </a:ext>
            </a:extLst>
          </p:cNvPr>
          <p:cNvSpPr/>
          <p:nvPr/>
        </p:nvSpPr>
        <p:spPr>
          <a:xfrm>
            <a:off x="-158750" y="-177800"/>
            <a:ext cx="12408259" cy="1419193"/>
          </a:xfrm>
          <a:prstGeom prst="rect">
            <a:avLst/>
          </a:prstGeom>
          <a:solidFill>
            <a:srgbClr val="23B7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Picture 4" descr="SWIss DRG&#10;&#10;AI-generated content may be incorrect.">
            <a:extLst>
              <a:ext uri="{FF2B5EF4-FFF2-40B4-BE49-F238E27FC236}">
                <a16:creationId xmlns:a16="http://schemas.microsoft.com/office/drawing/2014/main" id="{710AB417-2B74-9724-F9F6-C1531B7A5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0571"/>
            <a:ext cx="3657600" cy="720822"/>
          </a:xfrm>
          <a:prstGeom prst="rect">
            <a:avLst/>
          </a:pr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71BB679-D72F-C050-5BD6-7448EFC0F76A}"/>
              </a:ext>
            </a:extLst>
          </p:cNvPr>
          <p:cNvSpPr/>
          <p:nvPr/>
        </p:nvSpPr>
        <p:spPr>
          <a:xfrm>
            <a:off x="11375366" y="796696"/>
            <a:ext cx="315636" cy="243028"/>
          </a:xfrm>
          <a:custGeom>
            <a:avLst/>
            <a:gdLst>
              <a:gd name="csX0" fmla="*/ 74027 w 138371"/>
              <a:gd name="csY0" fmla="*/ 88156 h 114621"/>
              <a:gd name="csX1" fmla="*/ 28733 w 138371"/>
              <a:gd name="csY1" fmla="*/ 114676 h 114621"/>
              <a:gd name="csX2" fmla="*/ 4143 w 138371"/>
              <a:gd name="csY2" fmla="*/ 94776 h 114621"/>
              <a:gd name="csX3" fmla="*/ 7733 w 138371"/>
              <a:gd name="csY3" fmla="*/ 73231 h 114621"/>
              <a:gd name="csX4" fmla="*/ 21814 w 138371"/>
              <a:gd name="csY4" fmla="*/ 8056 h 114621"/>
              <a:gd name="csX5" fmla="*/ 9 w 138371"/>
              <a:gd name="csY5" fmla="*/ 8056 h 114621"/>
              <a:gd name="csX6" fmla="*/ 1935 w 138371"/>
              <a:gd name="csY6" fmla="*/ 1161 h 114621"/>
              <a:gd name="csX7" fmla="*/ 27351 w 138371"/>
              <a:gd name="csY7" fmla="*/ 1161 h 114621"/>
              <a:gd name="csX8" fmla="*/ 52745 w 138371"/>
              <a:gd name="csY8" fmla="*/ 54 h 114621"/>
              <a:gd name="csX9" fmla="*/ 35916 w 138371"/>
              <a:gd name="csY9" fmla="*/ 71586 h 114621"/>
              <a:gd name="csX10" fmla="*/ 31763 w 138371"/>
              <a:gd name="csY10" fmla="*/ 94513 h 114621"/>
              <a:gd name="csX11" fmla="*/ 43636 w 138371"/>
              <a:gd name="csY11" fmla="*/ 103341 h 114621"/>
              <a:gd name="csX12" fmla="*/ 58002 w 138371"/>
              <a:gd name="csY12" fmla="*/ 97262 h 114621"/>
              <a:gd name="csX13" fmla="*/ 79543 w 138371"/>
              <a:gd name="csY13" fmla="*/ 60251 h 114621"/>
              <a:gd name="csX14" fmla="*/ 93630 w 138371"/>
              <a:gd name="csY14" fmla="*/ 1161 h 114621"/>
              <a:gd name="csX15" fmla="*/ 122352 w 138371"/>
              <a:gd name="csY15" fmla="*/ 1161 h 114621"/>
              <a:gd name="csX16" fmla="*/ 103856 w 138371"/>
              <a:gd name="csY16" fmla="*/ 82074 h 114621"/>
              <a:gd name="csX17" fmla="*/ 101088 w 138371"/>
              <a:gd name="csY17" fmla="*/ 98644 h 114621"/>
              <a:gd name="csX18" fmla="*/ 106601 w 138371"/>
              <a:gd name="csY18" fmla="*/ 103078 h 114621"/>
              <a:gd name="csX19" fmla="*/ 132301 w 138371"/>
              <a:gd name="csY19" fmla="*/ 72127 h 114621"/>
              <a:gd name="csX20" fmla="*/ 138380 w 138371"/>
              <a:gd name="csY20" fmla="*/ 75457 h 114621"/>
              <a:gd name="csX21" fmla="*/ 94725 w 138371"/>
              <a:gd name="csY21" fmla="*/ 114676 h 114621"/>
              <a:gd name="csX22" fmla="*/ 74027 w 138371"/>
              <a:gd name="csY22" fmla="*/ 88156 h 1146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38371" h="114621">
                <a:moveTo>
                  <a:pt x="74027" y="88156"/>
                </a:moveTo>
                <a:cubicBezTo>
                  <a:pt x="62154" y="103078"/>
                  <a:pt x="48055" y="114676"/>
                  <a:pt x="28733" y="114676"/>
                </a:cubicBezTo>
                <a:cubicBezTo>
                  <a:pt x="15738" y="114676"/>
                  <a:pt x="4143" y="110260"/>
                  <a:pt x="4143" y="94776"/>
                </a:cubicBezTo>
                <a:cubicBezTo>
                  <a:pt x="4143" y="90920"/>
                  <a:pt x="5806" y="82074"/>
                  <a:pt x="7733" y="73231"/>
                </a:cubicBezTo>
                <a:cubicBezTo>
                  <a:pt x="7733" y="73231"/>
                  <a:pt x="21814" y="8056"/>
                  <a:pt x="21814" y="8056"/>
                </a:cubicBezTo>
                <a:cubicBezTo>
                  <a:pt x="21814" y="8056"/>
                  <a:pt x="9" y="8056"/>
                  <a:pt x="9" y="8056"/>
                </a:cubicBezTo>
                <a:cubicBezTo>
                  <a:pt x="9" y="8056"/>
                  <a:pt x="1935" y="1161"/>
                  <a:pt x="1935" y="1161"/>
                </a:cubicBezTo>
                <a:cubicBezTo>
                  <a:pt x="1935" y="1161"/>
                  <a:pt x="27351" y="1161"/>
                  <a:pt x="27351" y="1161"/>
                </a:cubicBezTo>
                <a:cubicBezTo>
                  <a:pt x="35916" y="1161"/>
                  <a:pt x="44199" y="54"/>
                  <a:pt x="52745" y="54"/>
                </a:cubicBezTo>
                <a:cubicBezTo>
                  <a:pt x="52745" y="54"/>
                  <a:pt x="35916" y="71586"/>
                  <a:pt x="35916" y="71586"/>
                </a:cubicBezTo>
                <a:cubicBezTo>
                  <a:pt x="33690" y="81533"/>
                  <a:pt x="31763" y="90920"/>
                  <a:pt x="31763" y="94513"/>
                </a:cubicBezTo>
                <a:cubicBezTo>
                  <a:pt x="31763" y="101692"/>
                  <a:pt x="38124" y="103341"/>
                  <a:pt x="43636" y="103341"/>
                </a:cubicBezTo>
                <a:cubicBezTo>
                  <a:pt x="48333" y="103341"/>
                  <a:pt x="54134" y="99751"/>
                  <a:pt x="58002" y="97262"/>
                </a:cubicBezTo>
                <a:cubicBezTo>
                  <a:pt x="70438" y="89253"/>
                  <a:pt x="76232" y="74072"/>
                  <a:pt x="79543" y="60251"/>
                </a:cubicBezTo>
                <a:cubicBezTo>
                  <a:pt x="79543" y="60251"/>
                  <a:pt x="93630" y="1161"/>
                  <a:pt x="93630" y="1161"/>
                </a:cubicBezTo>
                <a:cubicBezTo>
                  <a:pt x="93630" y="1161"/>
                  <a:pt x="122352" y="1161"/>
                  <a:pt x="122352" y="1161"/>
                </a:cubicBezTo>
                <a:cubicBezTo>
                  <a:pt x="122352" y="1161"/>
                  <a:pt x="103856" y="82074"/>
                  <a:pt x="103856" y="82074"/>
                </a:cubicBezTo>
                <a:cubicBezTo>
                  <a:pt x="101914" y="90360"/>
                  <a:pt x="100807" y="96718"/>
                  <a:pt x="101088" y="98644"/>
                </a:cubicBezTo>
                <a:cubicBezTo>
                  <a:pt x="101373" y="101414"/>
                  <a:pt x="104140" y="103078"/>
                  <a:pt x="106601" y="103078"/>
                </a:cubicBezTo>
                <a:cubicBezTo>
                  <a:pt x="116557" y="103078"/>
                  <a:pt x="128709" y="80148"/>
                  <a:pt x="132301" y="72127"/>
                </a:cubicBezTo>
                <a:cubicBezTo>
                  <a:pt x="132301" y="72127"/>
                  <a:pt x="138380" y="75457"/>
                  <a:pt x="138380" y="75457"/>
                </a:cubicBezTo>
                <a:cubicBezTo>
                  <a:pt x="131201" y="93950"/>
                  <a:pt x="116016" y="114676"/>
                  <a:pt x="94725" y="114676"/>
                </a:cubicBezTo>
                <a:cubicBezTo>
                  <a:pt x="78161" y="114676"/>
                  <a:pt x="73749" y="104185"/>
                  <a:pt x="74027" y="88156"/>
                </a:cubicBezTo>
              </a:path>
            </a:pathLst>
          </a:custGeom>
          <a:solidFill>
            <a:srgbClr val="161413"/>
          </a:solidFill>
          <a:ln w="3143" cap="flat">
            <a:noFill/>
            <a:prstDash val="solid"/>
            <a:miter/>
          </a:ln>
        </p:spPr>
        <p:txBody>
          <a:bodyPr/>
          <a:lstStyle/>
          <a:p>
            <a:endParaRPr lang="de-DE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FA7AA22-E71C-06B3-6764-5E68FC4C5C61}"/>
              </a:ext>
            </a:extLst>
          </p:cNvPr>
          <p:cNvSpPr/>
          <p:nvPr/>
        </p:nvSpPr>
        <p:spPr>
          <a:xfrm>
            <a:off x="11710898" y="632480"/>
            <a:ext cx="99163" cy="156002"/>
          </a:xfrm>
          <a:custGeom>
            <a:avLst/>
            <a:gdLst>
              <a:gd name="csX0" fmla="*/ 55 w 43472"/>
              <a:gd name="csY0" fmla="*/ 72867 h 73576"/>
              <a:gd name="csX1" fmla="*/ 9913 w 43472"/>
              <a:gd name="csY1" fmla="*/ 29 h 73576"/>
              <a:gd name="csX2" fmla="*/ 19096 w 43472"/>
              <a:gd name="csY2" fmla="*/ 29 h 73576"/>
              <a:gd name="csX3" fmla="*/ 15082 w 43472"/>
              <a:gd name="csY3" fmla="*/ 28253 h 73576"/>
              <a:gd name="csX4" fmla="*/ 15280 w 43472"/>
              <a:gd name="csY4" fmla="*/ 28450 h 73576"/>
              <a:gd name="csX5" fmla="*/ 26820 w 43472"/>
              <a:gd name="csY5" fmla="*/ 23179 h 73576"/>
              <a:gd name="csX6" fmla="*/ 43528 w 43472"/>
              <a:gd name="csY6" fmla="*/ 44841 h 73576"/>
              <a:gd name="csX7" fmla="*/ 12637 w 43472"/>
              <a:gd name="csY7" fmla="*/ 73606 h 73576"/>
              <a:gd name="csX8" fmla="*/ 55 w 43472"/>
              <a:gd name="csY8" fmla="*/ 72867 h 73576"/>
              <a:gd name="csX9" fmla="*/ 13920 w 43472"/>
              <a:gd name="csY9" fmla="*/ 37022 h 73576"/>
              <a:gd name="csX10" fmla="*/ 9789 w 43472"/>
              <a:gd name="csY10" fmla="*/ 66203 h 73576"/>
              <a:gd name="csX11" fmla="*/ 14764 w 43472"/>
              <a:gd name="csY11" fmla="*/ 66203 h 73576"/>
              <a:gd name="csX12" fmla="*/ 34317 w 43472"/>
              <a:gd name="csY12" fmla="*/ 44643 h 73576"/>
              <a:gd name="csX13" fmla="*/ 24074 w 43472"/>
              <a:gd name="csY13" fmla="*/ 31001 h 73576"/>
              <a:gd name="csX14" fmla="*/ 13920 w 43472"/>
              <a:gd name="csY14" fmla="*/ 37022 h 73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3472" h="73576">
                <a:moveTo>
                  <a:pt x="55" y="72867"/>
                </a:moveTo>
                <a:cubicBezTo>
                  <a:pt x="55" y="72867"/>
                  <a:pt x="9913" y="29"/>
                  <a:pt x="9913" y="29"/>
                </a:cubicBezTo>
                <a:cubicBezTo>
                  <a:pt x="9913" y="29"/>
                  <a:pt x="19096" y="29"/>
                  <a:pt x="19096" y="29"/>
                </a:cubicBezTo>
                <a:cubicBezTo>
                  <a:pt x="19096" y="29"/>
                  <a:pt x="15082" y="28253"/>
                  <a:pt x="15082" y="28253"/>
                </a:cubicBezTo>
                <a:cubicBezTo>
                  <a:pt x="15082" y="28253"/>
                  <a:pt x="15280" y="28450"/>
                  <a:pt x="15280" y="28450"/>
                </a:cubicBezTo>
                <a:cubicBezTo>
                  <a:pt x="19195" y="24542"/>
                  <a:pt x="22364" y="23179"/>
                  <a:pt x="26820" y="23179"/>
                </a:cubicBezTo>
                <a:cubicBezTo>
                  <a:pt x="36745" y="23179"/>
                  <a:pt x="43528" y="32062"/>
                  <a:pt x="43528" y="44841"/>
                </a:cubicBezTo>
                <a:cubicBezTo>
                  <a:pt x="43528" y="57540"/>
                  <a:pt x="36547" y="73606"/>
                  <a:pt x="12637" y="73606"/>
                </a:cubicBezTo>
                <a:cubicBezTo>
                  <a:pt x="8104" y="73606"/>
                  <a:pt x="2811" y="73287"/>
                  <a:pt x="55" y="72867"/>
                </a:cubicBezTo>
                <a:close/>
                <a:moveTo>
                  <a:pt x="13920" y="37022"/>
                </a:moveTo>
                <a:cubicBezTo>
                  <a:pt x="13920" y="37022"/>
                  <a:pt x="9789" y="66203"/>
                  <a:pt x="9789" y="66203"/>
                </a:cubicBezTo>
                <a:cubicBezTo>
                  <a:pt x="9789" y="66203"/>
                  <a:pt x="14764" y="66203"/>
                  <a:pt x="14764" y="66203"/>
                </a:cubicBezTo>
                <a:cubicBezTo>
                  <a:pt x="27243" y="66203"/>
                  <a:pt x="34317" y="57441"/>
                  <a:pt x="34317" y="44643"/>
                </a:cubicBezTo>
                <a:cubicBezTo>
                  <a:pt x="34317" y="35973"/>
                  <a:pt x="30412" y="31001"/>
                  <a:pt x="24074" y="31001"/>
                </a:cubicBezTo>
                <a:cubicBezTo>
                  <a:pt x="21102" y="31001"/>
                  <a:pt x="14541" y="33008"/>
                  <a:pt x="13920" y="37022"/>
                </a:cubicBezTo>
              </a:path>
            </a:pathLst>
          </a:custGeom>
          <a:solidFill>
            <a:srgbClr val="161413"/>
          </a:solidFill>
          <a:ln w="3143" cap="flat">
            <a:noFill/>
            <a:prstDash val="solid"/>
            <a:miter/>
          </a:ln>
        </p:spPr>
        <p:txBody>
          <a:bodyPr/>
          <a:lstStyle/>
          <a:p>
            <a:endParaRPr lang="de-DE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001F99E-28CE-668A-BB43-0A331C5F5F1C}"/>
              </a:ext>
            </a:extLst>
          </p:cNvPr>
          <p:cNvSpPr/>
          <p:nvPr/>
        </p:nvSpPr>
        <p:spPr>
          <a:xfrm>
            <a:off x="10508484" y="787817"/>
            <a:ext cx="1307392" cy="6713"/>
          </a:xfrm>
          <a:custGeom>
            <a:avLst/>
            <a:gdLst>
              <a:gd name="csX0" fmla="*/ 9 w 573144"/>
              <a:gd name="csY0" fmla="*/ 126 h 3166"/>
              <a:gd name="csX1" fmla="*/ 573154 w 573144"/>
              <a:gd name="csY1" fmla="*/ 126 h 316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3144" h="3166">
                <a:moveTo>
                  <a:pt x="9" y="126"/>
                </a:moveTo>
                <a:cubicBezTo>
                  <a:pt x="9" y="126"/>
                  <a:pt x="573154" y="126"/>
                  <a:pt x="573154" y="126"/>
                </a:cubicBezTo>
              </a:path>
            </a:pathLst>
          </a:custGeom>
          <a:noFill/>
          <a:ln w="5656" cap="flat">
            <a:noFill/>
            <a:prstDash val="solid"/>
            <a:miter/>
          </a:ln>
        </p:spPr>
        <p:txBody>
          <a:bodyPr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6326E-23A5-95C4-4CE7-BC4169573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66710"/>
            <a:ext cx="5054421" cy="720822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chemeClr val="bg1"/>
                </a:solidFill>
                <a:highlight>
                  <a:srgbClr val="23B7DF"/>
                </a:highlight>
              </a:rPr>
              <a:t>Fragen?</a:t>
            </a:r>
            <a:endParaRPr lang="de-DE" sz="4800" dirty="0">
              <a:solidFill>
                <a:schemeClr val="bg1"/>
              </a:solidFill>
              <a:highlight>
                <a:srgbClr val="23B7DF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A10141-7AE7-94FB-9A0C-E63A4D76CE4D}"/>
              </a:ext>
            </a:extLst>
          </p:cNvPr>
          <p:cNvSpPr txBox="1"/>
          <p:nvPr/>
        </p:nvSpPr>
        <p:spPr>
          <a:xfrm>
            <a:off x="508715" y="2113845"/>
            <a:ext cx="10084158" cy="2992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e-DE" sz="6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Vielen Dank für euer Aufmerksamkeit!</a:t>
            </a:r>
          </a:p>
        </p:txBody>
      </p:sp>
    </p:spTree>
    <p:extLst>
      <p:ext uri="{BB962C8B-B14F-4D97-AF65-F5344CB8AC3E}">
        <p14:creationId xmlns:p14="http://schemas.microsoft.com/office/powerpoint/2010/main" val="570992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550</Words>
  <Application>Microsoft Office PowerPoint</Application>
  <PresentationFormat>Widescreen</PresentationFormat>
  <Paragraphs>81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Analyse der ersten Iteration</vt:lpstr>
      <vt:lpstr>Einleitung:</vt:lpstr>
      <vt:lpstr>Erste Iteration:</vt:lpstr>
      <vt:lpstr>Aufwandanalyse</vt:lpstr>
      <vt:lpstr>Kommunikation</vt:lpstr>
      <vt:lpstr>Risikoanalyse</vt:lpstr>
      <vt:lpstr>Fazit    </vt:lpstr>
      <vt:lpstr>Fragen?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Bruce</dc:creator>
  <cp:lastModifiedBy>Tom Bruce</cp:lastModifiedBy>
  <cp:revision>10</cp:revision>
  <dcterms:created xsi:type="dcterms:W3CDTF">2026-03-16T18:45:40Z</dcterms:created>
  <dcterms:modified xsi:type="dcterms:W3CDTF">2026-03-18T10:52:18Z</dcterms:modified>
</cp:coreProperties>
</file>